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AB99AF-B349-1146-F304-D4DA530B442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B8ACF12-2102-4883-24E0-F8C0E9BC311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D4F315-4B22-E962-E1D2-ADF39B1548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EE3BBF-C98F-4360-B9A3-2318999C16C6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FD160C-53A5-79D9-59AD-C85471A614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EE0AE3-B2B4-093A-BE7B-8648DB2BEF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001AFE-A23C-44D6-8355-1FA089A48E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34022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FA8DA6-87B3-611A-1F72-BD93EE865E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19ABA9-F2A1-D30C-E677-E00177CDB3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5DC9D6-DD99-818A-E116-ECEE86398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EE3BBF-C98F-4360-B9A3-2318999C16C6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5204C-45D4-2B76-8CB0-760ACC760F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575212-5182-4E42-3557-EE83AA21C6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001AFE-A23C-44D6-8355-1FA089A48E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04600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EEA9AC-1157-157E-D9BF-BA7F3C366C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23B2C4-2BE5-B5A4-7FB9-2470E10B6B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083625-AF2B-8C91-09CC-10F8F4E666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EE3BBF-C98F-4360-B9A3-2318999C16C6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A2A4AC-9AA9-511C-5DC4-DD0ECAF1B7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647C06-2F23-40C4-DBE6-295031EBA1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001AFE-A23C-44D6-8355-1FA089A48E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11563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EF38F1-6435-E6BF-E106-7A15405CB4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FCB8FB-B875-9609-E93F-A892E0A5C33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75F5E02-63E6-A4F1-F2B3-8B2B58B71B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0005ED-9A4B-A42A-81BC-E2D8206C40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EE3BBF-C98F-4360-B9A3-2318999C16C6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A771BB-82C0-A6B3-14D3-E2DEB82E9C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B956E86-449F-D6B8-6F23-120F82732B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001AFE-A23C-44D6-8355-1FA089A48E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01296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EBB09F-28D1-C779-E8C4-81598A0361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D6D332-1DAA-74BC-8A96-310524952D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367CB75-E122-36E3-0E1E-CD646F5CB84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A0949BC-25A6-D7CA-A86F-3B0F8EFB11F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867B57A-9856-35F6-E7B4-F9123885469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2C3DFD1-DC19-39C4-0942-7C4BA31CAB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EE3BBF-C98F-4360-B9A3-2318999C16C6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D93F970-EB4E-9107-E99A-377692207F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8DAB89E-015B-64D0-F872-7BEF6A6BC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001AFE-A23C-44D6-8355-1FA089A48E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2541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A69426-5082-5D18-D63B-A49B698056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5E0554C-2167-37AA-7904-0F7F77A631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EE3BBF-C98F-4360-B9A3-2318999C16C6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4F647CC-E992-D01A-C24D-788CA0653F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267EE41-6A1D-5E6A-497C-BB60CD7C88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001AFE-A23C-44D6-8355-1FA089A48E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22415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8F9C58F-393C-980E-AF7A-363FF4284C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EE3BBF-C98F-4360-B9A3-2318999C16C6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193A4DE-8DE4-758E-0879-9C6F38B5C4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86AC60-DB7F-CABA-ABA2-14ED765189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001AFE-A23C-44D6-8355-1FA089A48E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42088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BF20AB-50F8-BB52-C8C4-4F039CAA80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D99468-8B8F-9FC6-83DF-681741CCAC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D4C44FA-AFBF-D713-6B68-F4F90DBEE34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F9D8214-1F1A-1982-FFAC-9275EC8D79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EE3BBF-C98F-4360-B9A3-2318999C16C6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7EC7323-6B15-D0BF-5252-64F8F3E753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D68DB4-D2B0-856C-0B6B-DFBEE351A8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001AFE-A23C-44D6-8355-1FA089A48E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42855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D48638-5185-5728-D355-D855940669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F1648A1-6F14-D133-7CEB-47776400A57B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68B7B4F-93D4-D154-D58C-329805AC84E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9C37453-32D5-7BE0-2829-1C779FA4E8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EE3BBF-C98F-4360-B9A3-2318999C16C6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1A8FEAE-CAD3-D772-855A-EAE8F4A71E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22C9357-86F2-149A-8A66-C1ECB069C1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001AFE-A23C-44D6-8355-1FA089A48E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19653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B9145B-5F84-B31C-8711-833AE1E009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582489E-659D-B459-DCAB-861779BC66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20A3F8-0D4A-8931-5A35-77601B01E9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EE3BBF-C98F-4360-B9A3-2318999C16C6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C29C74-536A-B72D-F7FA-2A4150167E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F817E1-AC8F-54C8-373C-35B872F9CC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001AFE-A23C-44D6-8355-1FA089A48E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2347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223F8E1-7913-C170-2413-CE207A27327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FFB9B18-B9B0-6A72-AB5D-5CC88E5836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09CC43-82B0-0450-96F5-CBD80634C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EE3BBF-C98F-4360-B9A3-2318999C16C6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013729-2928-B389-5D15-03F0AFFB6F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A64285-FA7C-DD6A-7677-D076C3C23E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001AFE-A23C-44D6-8355-1FA089A48E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46251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13235EF-41C6-1F2A-5D85-D7EC62717E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AAAFEB-D733-06E7-32A3-A23BB6000F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7F1115-A84D-4818-4371-B37ACFE4A1B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EEE3BBF-C98F-4360-B9A3-2318999C16C6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2E31B5-7F78-9623-E3C9-0F0E695C53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0AD2AD-773A-3A5C-C07F-A21A9A9086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B001AFE-A23C-44D6-8355-1FA089A48E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21218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3D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009A3C0B-593A-9598-2689-6716214557D3}"/>
              </a:ext>
            </a:extLst>
          </p:cNvPr>
          <p:cNvSpPr/>
          <p:nvPr/>
        </p:nvSpPr>
        <p:spPr>
          <a:xfrm>
            <a:off x="9052560" y="-1097280"/>
            <a:ext cx="4572001" cy="4572000"/>
          </a:xfrm>
          <a:prstGeom prst="roundRect">
            <a:avLst>
              <a:gd name="adj" fmla="val 30000"/>
            </a:avLst>
          </a:prstGeom>
          <a:solidFill>
            <a:srgbClr val="134E4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30B74F9-BFF2-B953-053F-C5E35125D92C}"/>
              </a:ext>
            </a:extLst>
          </p:cNvPr>
          <p:cNvSpPr txBox="1"/>
          <p:nvPr/>
        </p:nvSpPr>
        <p:spPr>
          <a:xfrm>
            <a:off x="914400" y="1554480"/>
            <a:ext cx="73152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600" b="1">
                <a:solidFill>
                  <a:srgbClr val="F97362"/>
                </a:solidFill>
                <a:latin typeface="Calibri" panose="020F0502020204030204" pitchFamily="34" charset="0"/>
              </a:rPr>
              <a:t>AI ASSISTED PRODUCTS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176D3B3-0A69-FF35-17FE-F1825A3CA965}"/>
              </a:ext>
            </a:extLst>
          </p:cNvPr>
          <p:cNvSpPr txBox="1"/>
          <p:nvPr/>
        </p:nvSpPr>
        <p:spPr>
          <a:xfrm>
            <a:off x="914400" y="2057400"/>
            <a:ext cx="100584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4400" b="1">
                <a:solidFill>
                  <a:srgbClr val="FFFFFF"/>
                </a:solidFill>
                <a:latin typeface="Cambria" panose="02040503050406030204" pitchFamily="18" charset="0"/>
              </a:rPr>
              <a:t>Third-Party Services Dashboard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A8E2B65-B289-5B43-DA77-5439688A0BB3}"/>
              </a:ext>
            </a:extLst>
          </p:cNvPr>
          <p:cNvSpPr txBox="1"/>
          <p:nvPr/>
        </p:nvSpPr>
        <p:spPr>
          <a:xfrm>
            <a:off x="914400" y="3566160"/>
            <a:ext cx="96012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2000">
                <a:solidFill>
                  <a:srgbClr val="CADCFC"/>
                </a:solidFill>
                <a:latin typeface="Calibri" panose="020F0502020204030204" pitchFamily="34" charset="0"/>
              </a:rPr>
              <a:t>Connecting cloud services through official MCP servers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AD60F2A-B555-D615-AE9C-AB80FAECCEF3}"/>
              </a:ext>
            </a:extLst>
          </p:cNvPr>
          <p:cNvSpPr txBox="1"/>
          <p:nvPr/>
        </p:nvSpPr>
        <p:spPr>
          <a:xfrm>
            <a:off x="914400" y="5943600"/>
            <a:ext cx="96012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500">
                <a:solidFill>
                  <a:srgbClr val="FFFFFF"/>
                </a:solidFill>
                <a:latin typeface="Calibri" panose="020F0502020204030204" pitchFamily="34" charset="0"/>
              </a:rPr>
              <a:t>Franco Busso   -   Rangio Nachlieli   -   Ivan Zirlinger   -   Hadar Lavinsky</a:t>
            </a:r>
          </a:p>
        </p:txBody>
      </p:sp>
    </p:spTree>
    <p:extLst>
      <p:ext uri="{BB962C8B-B14F-4D97-AF65-F5344CB8AC3E}">
        <p14:creationId xmlns:p14="http://schemas.microsoft.com/office/powerpoint/2010/main" val="23482674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0DAC019-E737-8EFE-F957-F4626867528E}"/>
              </a:ext>
            </a:extLst>
          </p:cNvPr>
          <p:cNvSpPr txBox="1"/>
          <p:nvPr/>
        </p:nvSpPr>
        <p:spPr>
          <a:xfrm>
            <a:off x="548640" y="411480"/>
            <a:ext cx="11094415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3200" b="1">
                <a:solidFill>
                  <a:srgbClr val="17262B"/>
                </a:solidFill>
                <a:latin typeface="Cambria" panose="02040503050406030204" pitchFamily="18" charset="0"/>
              </a:rPr>
              <a:t>What This Project Does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D360E876-4C81-4238-9E42-6316517C6CD0}"/>
              </a:ext>
            </a:extLst>
          </p:cNvPr>
          <p:cNvSpPr/>
          <p:nvPr/>
        </p:nvSpPr>
        <p:spPr>
          <a:xfrm>
            <a:off x="548640" y="2651760"/>
            <a:ext cx="1853123" cy="1371600"/>
          </a:xfrm>
          <a:prstGeom prst="roundRect">
            <a:avLst>
              <a:gd name="adj" fmla="val 12000"/>
            </a:avLst>
          </a:prstGeom>
          <a:solidFill>
            <a:srgbClr val="0F766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AEB3A97-5E7A-9564-66CA-C412AFED36BE}"/>
              </a:ext>
            </a:extLst>
          </p:cNvPr>
          <p:cNvSpPr txBox="1"/>
          <p:nvPr/>
        </p:nvSpPr>
        <p:spPr>
          <a:xfrm>
            <a:off x="548640" y="2651760"/>
            <a:ext cx="1853123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1400" b="1">
                <a:solidFill>
                  <a:srgbClr val="FFFFFF"/>
                </a:solidFill>
                <a:latin typeface="Calibri" panose="020F0502020204030204" pitchFamily="34" charset="0"/>
              </a:rPr>
              <a:t>Services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136FE3B-FDBF-E4ED-DC5C-A84BFB4B6C3D}"/>
              </a:ext>
            </a:extLst>
          </p:cNvPr>
          <p:cNvSpPr txBox="1"/>
          <p:nvPr/>
        </p:nvSpPr>
        <p:spPr>
          <a:xfrm>
            <a:off x="2401763" y="2651760"/>
            <a:ext cx="4572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2400" b="1">
                <a:solidFill>
                  <a:srgbClr val="64748B"/>
                </a:solidFill>
                <a:latin typeface="Calibri" panose="020F0502020204030204" pitchFamily="34" charset="0"/>
              </a:rPr>
              <a:t>→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4C197F05-51A2-DF54-C109-9AFB1CBBD3DD}"/>
              </a:ext>
            </a:extLst>
          </p:cNvPr>
          <p:cNvSpPr/>
          <p:nvPr/>
        </p:nvSpPr>
        <p:spPr>
          <a:xfrm>
            <a:off x="2858963" y="2651760"/>
            <a:ext cx="1853123" cy="1371600"/>
          </a:xfrm>
          <a:prstGeom prst="roundRect">
            <a:avLst>
              <a:gd name="adj" fmla="val 12000"/>
            </a:avLst>
          </a:prstGeom>
          <a:solidFill>
            <a:srgbClr val="0F766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1091D7E-487A-86DE-9EA8-C082B9FB8E15}"/>
              </a:ext>
            </a:extLst>
          </p:cNvPr>
          <p:cNvSpPr txBox="1"/>
          <p:nvPr/>
        </p:nvSpPr>
        <p:spPr>
          <a:xfrm>
            <a:off x="2858963" y="2651760"/>
            <a:ext cx="1853123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1400" b="1">
                <a:solidFill>
                  <a:srgbClr val="FFFFFF"/>
                </a:solidFill>
                <a:latin typeface="Calibri" panose="020F0502020204030204" pitchFamily="34" charset="0"/>
              </a:rPr>
              <a:t>Official MCP servers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F8380E4-8006-B4AD-FF08-FB4080A9F076}"/>
              </a:ext>
            </a:extLst>
          </p:cNvPr>
          <p:cNvSpPr txBox="1"/>
          <p:nvPr/>
        </p:nvSpPr>
        <p:spPr>
          <a:xfrm>
            <a:off x="4712086" y="2651760"/>
            <a:ext cx="4572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2400" b="1">
                <a:solidFill>
                  <a:srgbClr val="64748B"/>
                </a:solidFill>
                <a:latin typeface="Calibri" panose="020F0502020204030204" pitchFamily="34" charset="0"/>
              </a:rPr>
              <a:t>→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21584DE1-3A82-E589-9B5F-8B48DC902159}"/>
              </a:ext>
            </a:extLst>
          </p:cNvPr>
          <p:cNvSpPr/>
          <p:nvPr/>
        </p:nvSpPr>
        <p:spPr>
          <a:xfrm>
            <a:off x="5169286" y="2651760"/>
            <a:ext cx="1853123" cy="1371600"/>
          </a:xfrm>
          <a:prstGeom prst="roundRect">
            <a:avLst>
              <a:gd name="adj" fmla="val 12000"/>
            </a:avLst>
          </a:prstGeom>
          <a:solidFill>
            <a:srgbClr val="0F766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8041442-5935-CEC9-BDD6-882B0A06929E}"/>
              </a:ext>
            </a:extLst>
          </p:cNvPr>
          <p:cNvSpPr txBox="1"/>
          <p:nvPr/>
        </p:nvSpPr>
        <p:spPr>
          <a:xfrm>
            <a:off x="5169286" y="2651760"/>
            <a:ext cx="1853123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1400" b="1">
                <a:solidFill>
                  <a:srgbClr val="FFFFFF"/>
                </a:solidFill>
                <a:latin typeface="Calibri" panose="020F0502020204030204" pitchFamily="34" charset="0"/>
              </a:rPr>
              <a:t>Claude Code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D89271B-929B-016A-DBBB-3C9CCA400A13}"/>
              </a:ext>
            </a:extLst>
          </p:cNvPr>
          <p:cNvSpPr txBox="1"/>
          <p:nvPr/>
        </p:nvSpPr>
        <p:spPr>
          <a:xfrm>
            <a:off x="7022409" y="2651760"/>
            <a:ext cx="4572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2400" b="1">
                <a:solidFill>
                  <a:srgbClr val="64748B"/>
                </a:solidFill>
                <a:latin typeface="Calibri" panose="020F0502020204030204" pitchFamily="34" charset="0"/>
              </a:rPr>
              <a:t>→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8A2A4E8-5F61-10C9-A63F-2BCB673F2C21}"/>
              </a:ext>
            </a:extLst>
          </p:cNvPr>
          <p:cNvSpPr/>
          <p:nvPr/>
        </p:nvSpPr>
        <p:spPr>
          <a:xfrm>
            <a:off x="7479609" y="2651760"/>
            <a:ext cx="1853124" cy="1371600"/>
          </a:xfrm>
          <a:prstGeom prst="roundRect">
            <a:avLst>
              <a:gd name="adj" fmla="val 12000"/>
            </a:avLst>
          </a:prstGeom>
          <a:solidFill>
            <a:srgbClr val="0F766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6FC418D-EE2E-6E59-C377-D8C5A0334302}"/>
              </a:ext>
            </a:extLst>
          </p:cNvPr>
          <p:cNvSpPr txBox="1"/>
          <p:nvPr/>
        </p:nvSpPr>
        <p:spPr>
          <a:xfrm>
            <a:off x="7479609" y="2651760"/>
            <a:ext cx="1853123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1400" b="1">
                <a:solidFill>
                  <a:srgbClr val="FFFFFF"/>
                </a:solidFill>
                <a:latin typeface="Calibri" panose="020F0502020204030204" pitchFamily="34" charset="0"/>
              </a:rPr>
              <a:t>dataExports/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3E4B5BB-7CDE-992C-F981-F46D51C7F83C}"/>
              </a:ext>
            </a:extLst>
          </p:cNvPr>
          <p:cNvSpPr txBox="1"/>
          <p:nvPr/>
        </p:nvSpPr>
        <p:spPr>
          <a:xfrm>
            <a:off x="9332732" y="2651760"/>
            <a:ext cx="4572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2400" b="1">
                <a:solidFill>
                  <a:srgbClr val="64748B"/>
                </a:solidFill>
                <a:latin typeface="Calibri" panose="020F0502020204030204" pitchFamily="34" charset="0"/>
              </a:rPr>
              <a:t>→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ED705773-1904-9922-7AAF-8D55D26C5CDF}"/>
              </a:ext>
            </a:extLst>
          </p:cNvPr>
          <p:cNvSpPr/>
          <p:nvPr/>
        </p:nvSpPr>
        <p:spPr>
          <a:xfrm>
            <a:off x="9789932" y="2651760"/>
            <a:ext cx="1853123" cy="1371600"/>
          </a:xfrm>
          <a:prstGeom prst="roundRect">
            <a:avLst>
              <a:gd name="adj" fmla="val 12000"/>
            </a:avLst>
          </a:prstGeom>
          <a:solidFill>
            <a:srgbClr val="F9736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5A814E6-D327-A032-4027-010005B8ED44}"/>
              </a:ext>
            </a:extLst>
          </p:cNvPr>
          <p:cNvSpPr txBox="1"/>
          <p:nvPr/>
        </p:nvSpPr>
        <p:spPr>
          <a:xfrm>
            <a:off x="9789932" y="2651760"/>
            <a:ext cx="1853123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1400" b="1">
                <a:solidFill>
                  <a:srgbClr val="FFFFFF"/>
                </a:solidFill>
                <a:latin typeface="Calibri" panose="020F0502020204030204" pitchFamily="34" charset="0"/>
              </a:rPr>
              <a:t>Local dashboard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609EDA8-0DDA-550D-08A1-4924ED6EF2E3}"/>
              </a:ext>
            </a:extLst>
          </p:cNvPr>
          <p:cNvSpPr txBox="1"/>
          <p:nvPr/>
        </p:nvSpPr>
        <p:spPr>
          <a:xfrm>
            <a:off x="548640" y="4663440"/>
            <a:ext cx="11094415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600">
                <a:solidFill>
                  <a:srgbClr val="17262B"/>
                </a:solidFill>
                <a:latin typeface="Calibri" panose="020F0502020204030204" pitchFamily="34" charset="0"/>
              </a:rPr>
              <a:t>Claude Code talks to each service through its vendor's own official MCP server, downloads test data into local files, and the dashboard reads only from those files - never live from the services.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E1914F9-7973-C9A4-CC4D-389945016EE2}"/>
              </a:ext>
            </a:extLst>
          </p:cNvPr>
          <p:cNvSpPr txBox="1"/>
          <p:nvPr/>
        </p:nvSpPr>
        <p:spPr>
          <a:xfrm>
            <a:off x="548640" y="6473952"/>
            <a:ext cx="73152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000">
                <a:solidFill>
                  <a:srgbClr val="64748B"/>
                </a:solidFill>
                <a:latin typeface="Calibri" panose="020F0502020204030204" pitchFamily="34" charset="0"/>
              </a:rPr>
              <a:t>Third-Party Services Dashboard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5077E56-B707-D15E-6480-2D5AE09A304B}"/>
              </a:ext>
            </a:extLst>
          </p:cNvPr>
          <p:cNvSpPr txBox="1"/>
          <p:nvPr/>
        </p:nvSpPr>
        <p:spPr>
          <a:xfrm>
            <a:off x="11277295" y="6473952"/>
            <a:ext cx="54864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US" sz="1000">
                <a:solidFill>
                  <a:srgbClr val="64748B"/>
                </a:solidFill>
                <a:latin typeface="Calibri" panose="020F0502020204030204" pitchFamily="34" charset="0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42727281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61E7FFB-5DC0-0BE4-6A55-51ECD56E7B50}"/>
              </a:ext>
            </a:extLst>
          </p:cNvPr>
          <p:cNvSpPr txBox="1"/>
          <p:nvPr/>
        </p:nvSpPr>
        <p:spPr>
          <a:xfrm>
            <a:off x="548640" y="411480"/>
            <a:ext cx="11094415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3200" b="1">
                <a:solidFill>
                  <a:srgbClr val="17262B"/>
                </a:solidFill>
                <a:latin typeface="Cambria" panose="02040503050406030204" pitchFamily="18" charset="0"/>
              </a:rPr>
              <a:t>The Services and Their Official MCP Servers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EE2E9FAE-3088-EC2B-1C20-058F2129B6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70171163"/>
              </p:ext>
            </p:extLst>
          </p:nvPr>
        </p:nvGraphicFramePr>
        <p:xfrm>
          <a:off x="548640" y="1417320"/>
          <a:ext cx="11094415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1260">
                  <a:extLst>
                    <a:ext uri="{9D8B030D-6E8A-4147-A177-3AD203B41FA5}">
                      <a16:colId xmlns:a16="http://schemas.microsoft.com/office/drawing/2014/main" val="1666841103"/>
                    </a:ext>
                  </a:extLst>
                </a:gridCol>
                <a:gridCol w="6271260">
                  <a:extLst>
                    <a:ext uri="{9D8B030D-6E8A-4147-A177-3AD203B41FA5}">
                      <a16:colId xmlns:a16="http://schemas.microsoft.com/office/drawing/2014/main" val="3954179176"/>
                    </a:ext>
                  </a:extLst>
                </a:gridCol>
                <a:gridCol w="2362200">
                  <a:extLst>
                    <a:ext uri="{9D8B030D-6E8A-4147-A177-3AD203B41FA5}">
                      <a16:colId xmlns:a16="http://schemas.microsoft.com/office/drawing/2014/main" val="1716237325"/>
                    </a:ext>
                  </a:extLst>
                </a:gridCol>
              </a:tblGrid>
              <a:tr h="594360">
                <a:tc>
                  <a:txBody>
                    <a:bodyPr/>
                    <a:lstStyle/>
                    <a:p>
                      <a:r>
                        <a:rPr lang="en-US" sz="1400" b="1">
                          <a:solidFill>
                            <a:srgbClr val="FFFFFF"/>
                          </a:solidFill>
                          <a:latin typeface="Calibri" panose="020F0502020204030204" pitchFamily="34" charset="0"/>
                        </a:rPr>
                        <a:t>Service</a:t>
                      </a:r>
                    </a:p>
                  </a:txBody>
                  <a:tcPr marL="76200" marT="50800" marB="50800"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>
                          <a:solidFill>
                            <a:srgbClr val="FFFFFF"/>
                          </a:solidFill>
                          <a:latin typeface="Calibri" panose="020F0502020204030204" pitchFamily="34" charset="0"/>
                        </a:rPr>
                        <a:t>Official MCP server</a:t>
                      </a:r>
                    </a:p>
                  </a:txBody>
                  <a:tcPr marL="76200" marT="50800" marB="50800"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>
                          <a:solidFill>
                            <a:srgbClr val="FFFFFF"/>
                          </a:solidFill>
                          <a:latin typeface="Calibri" panose="020F0502020204030204" pitchFamily="34" charset="0"/>
                        </a:rPr>
                        <a:t>Extra service owner</a:t>
                      </a:r>
                    </a:p>
                  </a:txBody>
                  <a:tcPr marL="76200" marT="50800" marB="50800">
                    <a:solidFill>
                      <a:srgbClr val="0F76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4204526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r>
                        <a:rPr lang="en-US" sz="1300" b="0">
                          <a:solidFill>
                            <a:srgbClr val="17262B"/>
                          </a:solidFill>
                          <a:latin typeface="Calibri" panose="020F0502020204030204" pitchFamily="34" charset="0"/>
                        </a:rPr>
                        <a:t>Gmail</a:t>
                      </a:r>
                    </a:p>
                  </a:txBody>
                  <a:tcPr marL="76200" marT="50800" marB="50800">
                    <a:solidFill>
                      <a:srgbClr val="E7F2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b="0">
                          <a:solidFill>
                            <a:srgbClr val="17262B"/>
                          </a:solidFill>
                          <a:latin typeface="Calibri" panose="020F0502020204030204" pitchFamily="34" charset="0"/>
                        </a:rPr>
                        <a:t>Google's Gmail MCP, via Claude's Gmail connector</a:t>
                      </a:r>
                    </a:p>
                  </a:txBody>
                  <a:tcPr marL="76200" marT="50800" marB="50800">
                    <a:solidFill>
                      <a:srgbClr val="E7F2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b="0">
                          <a:solidFill>
                            <a:srgbClr val="17262B"/>
                          </a:solidFill>
                          <a:latin typeface="Calibri" panose="020F0502020204030204" pitchFamily="34" charset="0"/>
                        </a:rPr>
                        <a:t>Shared setup</a:t>
                      </a:r>
                    </a:p>
                  </a:txBody>
                  <a:tcPr marL="76200" marT="50800" marB="50800">
                    <a:solidFill>
                      <a:srgbClr val="E7F2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2833140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r>
                        <a:rPr lang="en-US" sz="1300" b="0">
                          <a:solidFill>
                            <a:srgbClr val="17262B"/>
                          </a:solidFill>
                          <a:latin typeface="Calibri" panose="020F0502020204030204" pitchFamily="34" charset="0"/>
                        </a:rPr>
                        <a:t>GitHub</a:t>
                      </a:r>
                    </a:p>
                  </a:txBody>
                  <a:tcPr marL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b="0">
                          <a:solidFill>
                            <a:srgbClr val="17262B"/>
                          </a:solidFill>
                          <a:latin typeface="Calibri" panose="020F0502020204030204" pitchFamily="34" charset="0"/>
                        </a:rPr>
                        <a:t>github/github-mcp-server (remote)</a:t>
                      </a:r>
                    </a:p>
                  </a:txBody>
                  <a:tcPr marL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b="0">
                          <a:solidFill>
                            <a:srgbClr val="17262B"/>
                          </a:solidFill>
                          <a:latin typeface="Calibri" panose="020F0502020204030204" pitchFamily="34" charset="0"/>
                        </a:rPr>
                        <a:t>Shared setup</a:t>
                      </a:r>
                    </a:p>
                  </a:txBody>
                  <a:tcPr marL="76200" marT="50800" marB="508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1612463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r>
                        <a:rPr lang="en-US" sz="1300" b="0">
                          <a:solidFill>
                            <a:srgbClr val="17262B"/>
                          </a:solidFill>
                          <a:latin typeface="Calibri" panose="020F0502020204030204" pitchFamily="34" charset="0"/>
                        </a:rPr>
                        <a:t>Notion</a:t>
                      </a:r>
                    </a:p>
                  </a:txBody>
                  <a:tcPr marL="76200" marT="50800" marB="50800">
                    <a:solidFill>
                      <a:srgbClr val="E7F2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b="0">
                          <a:solidFill>
                            <a:srgbClr val="17262B"/>
                          </a:solidFill>
                          <a:latin typeface="Calibri" panose="020F0502020204030204" pitchFamily="34" charset="0"/>
                        </a:rPr>
                        <a:t>Notion MCP (mcp.notion.com)</a:t>
                      </a:r>
                    </a:p>
                  </a:txBody>
                  <a:tcPr marL="76200" marT="50800" marB="50800">
                    <a:solidFill>
                      <a:srgbClr val="E7F2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b="0">
                          <a:solidFill>
                            <a:srgbClr val="17262B"/>
                          </a:solidFill>
                          <a:latin typeface="Calibri" panose="020F0502020204030204" pitchFamily="34" charset="0"/>
                        </a:rPr>
                        <a:t>Shared setup</a:t>
                      </a:r>
                    </a:p>
                  </a:txBody>
                  <a:tcPr marL="76200" marT="50800" marB="50800">
                    <a:solidFill>
                      <a:srgbClr val="E7F2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8925676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r>
                        <a:rPr lang="en-US" sz="1300" b="0">
                          <a:solidFill>
                            <a:srgbClr val="17262B"/>
                          </a:solidFill>
                          <a:latin typeface="Calibri" panose="020F0502020204030204" pitchFamily="34" charset="0"/>
                        </a:rPr>
                        <a:t>Google Calendar</a:t>
                      </a:r>
                    </a:p>
                  </a:txBody>
                  <a:tcPr marL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b="0">
                          <a:solidFill>
                            <a:srgbClr val="17262B"/>
                          </a:solidFill>
                          <a:latin typeface="Calibri" panose="020F0502020204030204" pitchFamily="34" charset="0"/>
                        </a:rPr>
                        <a:t>Google's Calendar MCP, via Claude's connector</a:t>
                      </a:r>
                    </a:p>
                  </a:txBody>
                  <a:tcPr marL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b="0">
                          <a:solidFill>
                            <a:srgbClr val="17262B"/>
                          </a:solidFill>
                          <a:latin typeface="Calibri" panose="020F0502020204030204" pitchFamily="34" charset="0"/>
                        </a:rPr>
                        <a:t>Franco Busso</a:t>
                      </a:r>
                    </a:p>
                  </a:txBody>
                  <a:tcPr marL="76200" marT="50800" marB="508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7932213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r>
                        <a:rPr lang="en-US" sz="1300" b="0">
                          <a:solidFill>
                            <a:srgbClr val="17262B"/>
                          </a:solidFill>
                          <a:latin typeface="Calibri" panose="020F0502020204030204" pitchFamily="34" charset="0"/>
                        </a:rPr>
                        <a:t>Todoist</a:t>
                      </a:r>
                    </a:p>
                  </a:txBody>
                  <a:tcPr marL="76200" marT="50800" marB="50800">
                    <a:solidFill>
                      <a:srgbClr val="E7F2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b="0">
                          <a:solidFill>
                            <a:srgbClr val="17262B"/>
                          </a:solidFill>
                          <a:latin typeface="Calibri" panose="020F0502020204030204" pitchFamily="34" charset="0"/>
                        </a:rPr>
                        <a:t>Doist's official Todoist MCP</a:t>
                      </a:r>
                    </a:p>
                  </a:txBody>
                  <a:tcPr marL="76200" marT="50800" marB="50800">
                    <a:solidFill>
                      <a:srgbClr val="E7F2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b="0">
                          <a:solidFill>
                            <a:srgbClr val="17262B"/>
                          </a:solidFill>
                          <a:latin typeface="Calibri" panose="020F0502020204030204" pitchFamily="34" charset="0"/>
                        </a:rPr>
                        <a:t>Ivan Zirlinger</a:t>
                      </a:r>
                    </a:p>
                  </a:txBody>
                  <a:tcPr marL="76200" marT="50800" marB="50800">
                    <a:solidFill>
                      <a:srgbClr val="E7F2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45371039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r>
                        <a:rPr lang="en-US" sz="1300" b="0">
                          <a:solidFill>
                            <a:srgbClr val="17262B"/>
                          </a:solidFill>
                          <a:latin typeface="Calibri" panose="020F0502020204030204" pitchFamily="34" charset="0"/>
                        </a:rPr>
                        <a:t>Linear</a:t>
                      </a:r>
                    </a:p>
                  </a:txBody>
                  <a:tcPr marL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b="0">
                          <a:solidFill>
                            <a:srgbClr val="17262B"/>
                          </a:solidFill>
                          <a:latin typeface="Calibri" panose="020F0502020204030204" pitchFamily="34" charset="0"/>
                        </a:rPr>
                        <a:t>Linear's official MCP (suggested)</a:t>
                      </a:r>
                    </a:p>
                  </a:txBody>
                  <a:tcPr marL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b="0">
                          <a:solidFill>
                            <a:srgbClr val="17262B"/>
                          </a:solidFill>
                          <a:latin typeface="Calibri" panose="020F0502020204030204" pitchFamily="34" charset="0"/>
                        </a:rPr>
                        <a:t>Rangio Nachlieli</a:t>
                      </a:r>
                    </a:p>
                  </a:txBody>
                  <a:tcPr marL="76200" marT="50800" marB="508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704540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r>
                        <a:rPr lang="en-US" sz="1300" b="0">
                          <a:solidFill>
                            <a:srgbClr val="17262B"/>
                          </a:solidFill>
                          <a:latin typeface="Calibri" panose="020F0502020204030204" pitchFamily="34" charset="0"/>
                        </a:rPr>
                        <a:t>ClickUp</a:t>
                      </a:r>
                    </a:p>
                  </a:txBody>
                  <a:tcPr marL="76200" marT="50800" marB="50800">
                    <a:solidFill>
                      <a:srgbClr val="E7F2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b="0">
                          <a:solidFill>
                            <a:srgbClr val="17262B"/>
                          </a:solidFill>
                          <a:latin typeface="Calibri" panose="020F0502020204030204" pitchFamily="34" charset="0"/>
                        </a:rPr>
                        <a:t>ClickUp's official MCP (suggested)</a:t>
                      </a:r>
                    </a:p>
                  </a:txBody>
                  <a:tcPr marL="76200" marT="50800" marB="50800">
                    <a:solidFill>
                      <a:srgbClr val="E7F2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b="0">
                          <a:solidFill>
                            <a:srgbClr val="17262B"/>
                          </a:solidFill>
                          <a:latin typeface="Calibri" panose="020F0502020204030204" pitchFamily="34" charset="0"/>
                        </a:rPr>
                        <a:t>Hadar Lavinsky</a:t>
                      </a:r>
                    </a:p>
                  </a:txBody>
                  <a:tcPr marL="76200" marT="50800" marB="50800">
                    <a:solidFill>
                      <a:srgbClr val="E7F2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38740663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09278C4A-DB27-CDF3-BED4-FF4D6C835090}"/>
              </a:ext>
            </a:extLst>
          </p:cNvPr>
          <p:cNvSpPr txBox="1"/>
          <p:nvPr/>
        </p:nvSpPr>
        <p:spPr>
          <a:xfrm>
            <a:off x="548640" y="6473952"/>
            <a:ext cx="73152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000">
                <a:solidFill>
                  <a:srgbClr val="64748B"/>
                </a:solidFill>
                <a:latin typeface="Calibri" panose="020F0502020204030204" pitchFamily="34" charset="0"/>
              </a:rPr>
              <a:t>Third-Party Services Dashboard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BE0D40D-D22F-5CEE-2040-5F32C9BB1EF2}"/>
              </a:ext>
            </a:extLst>
          </p:cNvPr>
          <p:cNvSpPr txBox="1"/>
          <p:nvPr/>
        </p:nvSpPr>
        <p:spPr>
          <a:xfrm>
            <a:off x="11277295" y="6473952"/>
            <a:ext cx="54864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US" sz="1000">
                <a:solidFill>
                  <a:srgbClr val="64748B"/>
                </a:solidFill>
                <a:latin typeface="Calibri" panose="020F0502020204030204" pitchFamily="34" charset="0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21249690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1721CCE-FE72-487F-ED2A-3AAA3663E5F3}"/>
              </a:ext>
            </a:extLst>
          </p:cNvPr>
          <p:cNvSpPr txBox="1"/>
          <p:nvPr/>
        </p:nvSpPr>
        <p:spPr>
          <a:xfrm>
            <a:off x="548640" y="411480"/>
            <a:ext cx="11094415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3200" b="1">
                <a:solidFill>
                  <a:srgbClr val="17262B"/>
                </a:solidFill>
                <a:latin typeface="Cambria" panose="02040503050406030204" pitchFamily="18" charset="0"/>
              </a:rPr>
              <a:t>What Each Team Member Did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DAA3731E-6885-AD46-4BEE-53E8876BF813}"/>
              </a:ext>
            </a:extLst>
          </p:cNvPr>
          <p:cNvSpPr/>
          <p:nvPr/>
        </p:nvSpPr>
        <p:spPr>
          <a:xfrm>
            <a:off x="548640" y="1645920"/>
            <a:ext cx="2499284" cy="4389120"/>
          </a:xfrm>
          <a:prstGeom prst="roundRect">
            <a:avLst>
              <a:gd name="adj" fmla="val 8000"/>
            </a:avLst>
          </a:prstGeom>
          <a:solidFill>
            <a:srgbClr val="E7F2F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353054E6-2C1A-85B8-60B6-0285D2C4836A}"/>
              </a:ext>
            </a:extLst>
          </p:cNvPr>
          <p:cNvSpPr/>
          <p:nvPr/>
        </p:nvSpPr>
        <p:spPr>
          <a:xfrm>
            <a:off x="1386802" y="1965960"/>
            <a:ext cx="822960" cy="822960"/>
          </a:xfrm>
          <a:prstGeom prst="ellipse">
            <a:avLst/>
          </a:prstGeom>
          <a:solidFill>
            <a:srgbClr val="0F766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FB88207-AF76-D29B-A4F5-C5B16B1D5A0D}"/>
              </a:ext>
            </a:extLst>
          </p:cNvPr>
          <p:cNvSpPr txBox="1"/>
          <p:nvPr/>
        </p:nvSpPr>
        <p:spPr>
          <a:xfrm>
            <a:off x="1386802" y="1965960"/>
            <a:ext cx="82296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2000" b="1">
                <a:solidFill>
                  <a:srgbClr val="FFFFFF"/>
                </a:solidFill>
                <a:latin typeface="Calibri" panose="020F0502020204030204" pitchFamily="34" charset="0"/>
              </a:rPr>
              <a:t>FB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DCC26D7-2ACA-4F0D-06AC-B68FF326F696}"/>
              </a:ext>
            </a:extLst>
          </p:cNvPr>
          <p:cNvSpPr txBox="1"/>
          <p:nvPr/>
        </p:nvSpPr>
        <p:spPr>
          <a:xfrm>
            <a:off x="640080" y="2926080"/>
            <a:ext cx="2316404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sz="1500" b="1">
                <a:solidFill>
                  <a:srgbClr val="17262B"/>
                </a:solidFill>
                <a:latin typeface="Calibri" panose="020F0502020204030204" pitchFamily="34" charset="0"/>
              </a:rPr>
              <a:t>Franco Busso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3320979-B426-17CF-C901-E2E157A22EDB}"/>
              </a:ext>
            </a:extLst>
          </p:cNvPr>
          <p:cNvSpPr txBox="1"/>
          <p:nvPr/>
        </p:nvSpPr>
        <p:spPr>
          <a:xfrm>
            <a:off x="777240" y="3429000"/>
            <a:ext cx="2042084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200">
                <a:solidFill>
                  <a:srgbClr val="17262B"/>
                </a:solidFill>
                <a:latin typeface="Calibri" panose="020F0502020204030204" pitchFamily="34" charset="0"/>
              </a:rPr>
              <a:t>Test accounts, MCP setup, downloaded all data, localStorageFormats.md, download skill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A1CBD17-0656-E1FA-0E35-9FB77F68CABC}"/>
              </a:ext>
            </a:extLst>
          </p:cNvPr>
          <p:cNvSpPr txBox="1"/>
          <p:nvPr/>
        </p:nvSpPr>
        <p:spPr>
          <a:xfrm>
            <a:off x="777240" y="5394960"/>
            <a:ext cx="2042084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100" i="1">
                <a:solidFill>
                  <a:srgbClr val="F97362"/>
                </a:solidFill>
                <a:latin typeface="Calibri" panose="020F0502020204030204" pitchFamily="34" charset="0"/>
              </a:rPr>
              <a:t>Extra service: Google Calendar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3A0FF0FD-0FC7-6402-8321-AF10EFE71EFE}"/>
              </a:ext>
            </a:extLst>
          </p:cNvPr>
          <p:cNvSpPr/>
          <p:nvPr/>
        </p:nvSpPr>
        <p:spPr>
          <a:xfrm>
            <a:off x="3413684" y="1645920"/>
            <a:ext cx="2499284" cy="4389120"/>
          </a:xfrm>
          <a:prstGeom prst="roundRect">
            <a:avLst>
              <a:gd name="adj" fmla="val 8000"/>
            </a:avLst>
          </a:prstGeom>
          <a:solidFill>
            <a:srgbClr val="E7F2F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E1977425-79C1-01D9-FB50-9366776441CF}"/>
              </a:ext>
            </a:extLst>
          </p:cNvPr>
          <p:cNvSpPr/>
          <p:nvPr/>
        </p:nvSpPr>
        <p:spPr>
          <a:xfrm>
            <a:off x="4251846" y="1965960"/>
            <a:ext cx="822960" cy="822960"/>
          </a:xfrm>
          <a:prstGeom prst="ellipse">
            <a:avLst/>
          </a:prstGeom>
          <a:solidFill>
            <a:srgbClr val="0F766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88C54FF-E24C-9D5C-40CB-7DD55A02312E}"/>
              </a:ext>
            </a:extLst>
          </p:cNvPr>
          <p:cNvSpPr txBox="1"/>
          <p:nvPr/>
        </p:nvSpPr>
        <p:spPr>
          <a:xfrm>
            <a:off x="4251846" y="1965960"/>
            <a:ext cx="82296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2000" b="1">
                <a:solidFill>
                  <a:srgbClr val="FFFFFF"/>
                </a:solidFill>
                <a:latin typeface="Calibri" panose="020F0502020204030204" pitchFamily="34" charset="0"/>
              </a:rPr>
              <a:t>RN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24729CF-71D8-1EB3-806A-5779C65322CC}"/>
              </a:ext>
            </a:extLst>
          </p:cNvPr>
          <p:cNvSpPr txBox="1"/>
          <p:nvPr/>
        </p:nvSpPr>
        <p:spPr>
          <a:xfrm>
            <a:off x="3505124" y="2926080"/>
            <a:ext cx="2316404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sz="1500" b="1">
                <a:solidFill>
                  <a:srgbClr val="17262B"/>
                </a:solidFill>
                <a:latin typeface="Calibri" panose="020F0502020204030204" pitchFamily="34" charset="0"/>
              </a:rPr>
              <a:t>Rangio Nachlieli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95AC26A-EE0E-B3F3-5EF2-54D3D65FC242}"/>
              </a:ext>
            </a:extLst>
          </p:cNvPr>
          <p:cNvSpPr txBox="1"/>
          <p:nvPr/>
        </p:nvSpPr>
        <p:spPr>
          <a:xfrm>
            <a:off x="3642284" y="3429000"/>
            <a:ext cx="2042084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200">
                <a:solidFill>
                  <a:srgbClr val="17262B"/>
                </a:solidFill>
                <a:latin typeface="Calibri" panose="020F0502020204030204" pitchFamily="34" charset="0"/>
              </a:rPr>
              <a:t>Built the local dashboard website from dataExports/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787EBDD-82FD-9AC2-50EE-43726A3C1DA8}"/>
              </a:ext>
            </a:extLst>
          </p:cNvPr>
          <p:cNvSpPr txBox="1"/>
          <p:nvPr/>
        </p:nvSpPr>
        <p:spPr>
          <a:xfrm>
            <a:off x="3642284" y="5394960"/>
            <a:ext cx="2042084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100" i="1">
                <a:solidFill>
                  <a:srgbClr val="F97362"/>
                </a:solidFill>
                <a:latin typeface="Calibri" panose="020F0502020204030204" pitchFamily="34" charset="0"/>
              </a:rPr>
              <a:t>Extra service: Linear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38703793-4775-B7BB-DF6A-3DBA7487FD5F}"/>
              </a:ext>
            </a:extLst>
          </p:cNvPr>
          <p:cNvSpPr/>
          <p:nvPr/>
        </p:nvSpPr>
        <p:spPr>
          <a:xfrm>
            <a:off x="6278728" y="1645920"/>
            <a:ext cx="2499283" cy="4389120"/>
          </a:xfrm>
          <a:prstGeom prst="roundRect">
            <a:avLst>
              <a:gd name="adj" fmla="val 8000"/>
            </a:avLst>
          </a:prstGeom>
          <a:solidFill>
            <a:srgbClr val="E7F2F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19566A8A-1EDD-30FC-F073-5F30CCD4DD06}"/>
              </a:ext>
            </a:extLst>
          </p:cNvPr>
          <p:cNvSpPr/>
          <p:nvPr/>
        </p:nvSpPr>
        <p:spPr>
          <a:xfrm>
            <a:off x="7116890" y="1965960"/>
            <a:ext cx="822959" cy="822960"/>
          </a:xfrm>
          <a:prstGeom prst="ellipse">
            <a:avLst/>
          </a:prstGeom>
          <a:solidFill>
            <a:srgbClr val="0F766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5D89F6D-4FBF-A417-991F-9941AC09E90E}"/>
              </a:ext>
            </a:extLst>
          </p:cNvPr>
          <p:cNvSpPr txBox="1"/>
          <p:nvPr/>
        </p:nvSpPr>
        <p:spPr>
          <a:xfrm>
            <a:off x="7116890" y="1965960"/>
            <a:ext cx="82296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2000" b="1">
                <a:solidFill>
                  <a:srgbClr val="FFFFFF"/>
                </a:solidFill>
                <a:latin typeface="Calibri" panose="020F0502020204030204" pitchFamily="34" charset="0"/>
              </a:rPr>
              <a:t>IZ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31C828B-0190-522C-C2BE-4008FF886DB8}"/>
              </a:ext>
            </a:extLst>
          </p:cNvPr>
          <p:cNvSpPr txBox="1"/>
          <p:nvPr/>
        </p:nvSpPr>
        <p:spPr>
          <a:xfrm>
            <a:off x="6370168" y="2926080"/>
            <a:ext cx="2316404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sz="1500" b="1">
                <a:solidFill>
                  <a:srgbClr val="17262B"/>
                </a:solidFill>
                <a:latin typeface="Calibri" panose="020F0502020204030204" pitchFamily="34" charset="0"/>
              </a:rPr>
              <a:t>Ivan Zirlinger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6AFA63A-6BC6-C139-3163-4EDB2FBDDE3D}"/>
              </a:ext>
            </a:extLst>
          </p:cNvPr>
          <p:cNvSpPr txBox="1"/>
          <p:nvPr/>
        </p:nvSpPr>
        <p:spPr>
          <a:xfrm>
            <a:off x="6507328" y="3429000"/>
            <a:ext cx="2042084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200">
                <a:solidFill>
                  <a:srgbClr val="17262B"/>
                </a:solidFill>
                <a:latin typeface="Calibri" panose="020F0502020204030204" pitchFamily="34" charset="0"/>
              </a:rPr>
              <a:t>This presentation and the screenshot walkthrough of every service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4079CA5-5051-57B6-AA88-B0F1229E503E}"/>
              </a:ext>
            </a:extLst>
          </p:cNvPr>
          <p:cNvSpPr txBox="1"/>
          <p:nvPr/>
        </p:nvSpPr>
        <p:spPr>
          <a:xfrm>
            <a:off x="6507328" y="5394960"/>
            <a:ext cx="2042084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100" i="1">
                <a:solidFill>
                  <a:srgbClr val="F97362"/>
                </a:solidFill>
                <a:latin typeface="Calibri" panose="020F0502020204030204" pitchFamily="34" charset="0"/>
              </a:rPr>
              <a:t>Extra service: Todoist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6E8220BB-21C3-4561-F7B2-B0F5684066D8}"/>
              </a:ext>
            </a:extLst>
          </p:cNvPr>
          <p:cNvSpPr/>
          <p:nvPr/>
        </p:nvSpPr>
        <p:spPr>
          <a:xfrm>
            <a:off x="9143771" y="1645920"/>
            <a:ext cx="2499284" cy="4389120"/>
          </a:xfrm>
          <a:prstGeom prst="roundRect">
            <a:avLst>
              <a:gd name="adj" fmla="val 8000"/>
            </a:avLst>
          </a:prstGeom>
          <a:solidFill>
            <a:srgbClr val="E7F2F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51039338-55F2-FF90-D44A-38654BE91161}"/>
              </a:ext>
            </a:extLst>
          </p:cNvPr>
          <p:cNvSpPr/>
          <p:nvPr/>
        </p:nvSpPr>
        <p:spPr>
          <a:xfrm>
            <a:off x="9981933" y="1965960"/>
            <a:ext cx="822960" cy="822960"/>
          </a:xfrm>
          <a:prstGeom prst="ellipse">
            <a:avLst/>
          </a:prstGeom>
          <a:solidFill>
            <a:srgbClr val="0F766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40CD706-0324-1892-E1F5-9A6490DC08AF}"/>
              </a:ext>
            </a:extLst>
          </p:cNvPr>
          <p:cNvSpPr txBox="1"/>
          <p:nvPr/>
        </p:nvSpPr>
        <p:spPr>
          <a:xfrm>
            <a:off x="9981933" y="1965960"/>
            <a:ext cx="82296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2000" b="1">
                <a:solidFill>
                  <a:srgbClr val="FFFFFF"/>
                </a:solidFill>
                <a:latin typeface="Calibri" panose="020F0502020204030204" pitchFamily="34" charset="0"/>
              </a:rPr>
              <a:t>HL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0989893-FCAF-F41E-AEEC-CF47CA78D825}"/>
              </a:ext>
            </a:extLst>
          </p:cNvPr>
          <p:cNvSpPr txBox="1"/>
          <p:nvPr/>
        </p:nvSpPr>
        <p:spPr>
          <a:xfrm>
            <a:off x="9235211" y="2926080"/>
            <a:ext cx="2316404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sz="1500" b="1">
                <a:solidFill>
                  <a:srgbClr val="17262B"/>
                </a:solidFill>
                <a:latin typeface="Calibri" panose="020F0502020204030204" pitchFamily="34" charset="0"/>
              </a:rPr>
              <a:t>Hadar Lavinsky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BE779D5-D704-0CF7-1473-62C926CF6B85}"/>
              </a:ext>
            </a:extLst>
          </p:cNvPr>
          <p:cNvSpPr txBox="1"/>
          <p:nvPr/>
        </p:nvSpPr>
        <p:spPr>
          <a:xfrm>
            <a:off x="9372371" y="3429000"/>
            <a:ext cx="2042084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200">
                <a:solidFill>
                  <a:srgbClr val="17262B"/>
                </a:solidFill>
                <a:latin typeface="Calibri" panose="020F0502020204030204" pitchFamily="34" charset="0"/>
              </a:rPr>
              <a:t>Demo video and the final root README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18D9DF3-B344-C899-C53A-D9FD8F18428C}"/>
              </a:ext>
            </a:extLst>
          </p:cNvPr>
          <p:cNvSpPr txBox="1"/>
          <p:nvPr/>
        </p:nvSpPr>
        <p:spPr>
          <a:xfrm>
            <a:off x="9372371" y="5394960"/>
            <a:ext cx="2042084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100" i="1">
                <a:solidFill>
                  <a:srgbClr val="F97362"/>
                </a:solidFill>
                <a:latin typeface="Calibri" panose="020F0502020204030204" pitchFamily="34" charset="0"/>
              </a:rPr>
              <a:t>Extra service: ClickUp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82FB6C0-1614-C00C-5CC1-40A09BE3E6F1}"/>
              </a:ext>
            </a:extLst>
          </p:cNvPr>
          <p:cNvSpPr txBox="1"/>
          <p:nvPr/>
        </p:nvSpPr>
        <p:spPr>
          <a:xfrm>
            <a:off x="548640" y="6473952"/>
            <a:ext cx="73152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000">
                <a:solidFill>
                  <a:srgbClr val="64748B"/>
                </a:solidFill>
                <a:latin typeface="Calibri" panose="020F0502020204030204" pitchFamily="34" charset="0"/>
              </a:rPr>
              <a:t>Third-Party Services Dashboard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E80C8B4-88BD-1D6C-3FD0-E71A24F3B2CC}"/>
              </a:ext>
            </a:extLst>
          </p:cNvPr>
          <p:cNvSpPr txBox="1"/>
          <p:nvPr/>
        </p:nvSpPr>
        <p:spPr>
          <a:xfrm>
            <a:off x="11277295" y="6473952"/>
            <a:ext cx="54864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US" sz="1000">
                <a:solidFill>
                  <a:srgbClr val="64748B"/>
                </a:solidFill>
                <a:latin typeface="Calibri" panose="020F0502020204030204" pitchFamily="34" charset="0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33707671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EB47FF8-7A7D-5FD6-FD73-4F9832674867}"/>
              </a:ext>
            </a:extLst>
          </p:cNvPr>
          <p:cNvSpPr txBox="1"/>
          <p:nvPr/>
        </p:nvSpPr>
        <p:spPr>
          <a:xfrm>
            <a:off x="548640" y="411480"/>
            <a:ext cx="11094415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3200" b="1">
                <a:solidFill>
                  <a:srgbClr val="17262B"/>
                </a:solidFill>
                <a:latin typeface="Cambria" panose="02040503050406030204" pitchFamily="18" charset="0"/>
              </a:rPr>
              <a:t>Test Accounts and Test Data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8EB5920-FB8F-8B9A-A2C5-095793A407A8}"/>
              </a:ext>
            </a:extLst>
          </p:cNvPr>
          <p:cNvSpPr txBox="1"/>
          <p:nvPr/>
        </p:nvSpPr>
        <p:spPr>
          <a:xfrm>
            <a:off x="548640" y="1417320"/>
            <a:ext cx="5394960" cy="36576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b="1">
                <a:solidFill>
                  <a:srgbClr val="0F766E"/>
                </a:solidFill>
                <a:latin typeface="Calibri" panose="020F0502020204030204" pitchFamily="34" charset="0"/>
              </a:rPr>
              <a:t>Why test accounts?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3FCBB54-B4B0-A551-A597-E2715597F0FC}"/>
              </a:ext>
            </a:extLst>
          </p:cNvPr>
          <p:cNvSpPr txBox="1"/>
          <p:nvPr/>
        </p:nvSpPr>
        <p:spPr>
          <a:xfrm>
            <a:off x="548640" y="1874520"/>
            <a:ext cx="539496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400">
                <a:solidFill>
                  <a:srgbClr val="17262B"/>
                </a:solidFill>
                <a:latin typeface="Calibri" panose="020F0502020204030204" pitchFamily="34" charset="0"/>
              </a:rPr>
              <a:t>This repository is public.</a:t>
            </a:r>
          </a:p>
          <a:p>
            <a:r>
              <a:rPr lang="en-US" sz="1400">
                <a:solidFill>
                  <a:srgbClr val="17262B"/>
                </a:solidFill>
                <a:latin typeface="Calibri" panose="020F0502020204030204" pitchFamily="34" charset="0"/>
              </a:rPr>
              <a:t>- Every login uses a throwaway test account, never a personal one.</a:t>
            </a:r>
          </a:p>
          <a:p>
            <a:r>
              <a:rPr lang="en-US" sz="1400">
                <a:solidFill>
                  <a:srgbClr val="17262B"/>
                </a:solidFill>
                <a:latin typeface="Calibri" panose="020F0502020204030204" pitchFamily="34" charset="0"/>
              </a:rPr>
              <a:t>- No real passwords, API keys, tokens, or personal data are ever written to a file.</a:t>
            </a:r>
          </a:p>
          <a:p>
            <a:r>
              <a:rPr lang="en-US" sz="1400">
                <a:solidFill>
                  <a:srgbClr val="17262B"/>
                </a:solidFill>
                <a:latin typeface="Calibri" panose="020F0502020204030204" pitchFamily="34" charset="0"/>
              </a:rPr>
              <a:t>- Secrets live only in environment variables or Claude Code's credential store.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ACB13C8C-A14C-98D7-0EBF-3D834B35B9C2}"/>
              </a:ext>
            </a:extLst>
          </p:cNvPr>
          <p:cNvSpPr/>
          <p:nvPr/>
        </p:nvSpPr>
        <p:spPr>
          <a:xfrm>
            <a:off x="6309360" y="1417320"/>
            <a:ext cx="5303520" cy="4297680"/>
          </a:xfrm>
          <a:prstGeom prst="roundRect">
            <a:avLst>
              <a:gd name="adj" fmla="val 12000"/>
            </a:avLst>
          </a:prstGeom>
          <a:solidFill>
            <a:srgbClr val="0B3D3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B88AA8B-CEAF-F1CB-66EB-6CCF2E5B5D1A}"/>
              </a:ext>
            </a:extLst>
          </p:cNvPr>
          <p:cNvSpPr txBox="1"/>
          <p:nvPr/>
        </p:nvSpPr>
        <p:spPr>
          <a:xfrm>
            <a:off x="6583680" y="1645920"/>
            <a:ext cx="475488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700" b="1">
                <a:solidFill>
                  <a:srgbClr val="FFFFFF"/>
                </a:solidFill>
                <a:latin typeface="Calibri" panose="020F0502020204030204" pitchFamily="34" charset="0"/>
              </a:rPr>
              <a:t>The test data story: Pairly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8848BB2-F220-C650-36C3-B272B9A851BA}"/>
              </a:ext>
            </a:extLst>
          </p:cNvPr>
          <p:cNvSpPr txBox="1"/>
          <p:nvPr/>
        </p:nvSpPr>
        <p:spPr>
          <a:xfrm>
            <a:off x="6583680" y="2194560"/>
            <a:ext cx="475488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300">
                <a:solidFill>
                  <a:srgbClr val="CADCFC"/>
                </a:solidFill>
                <a:latin typeface="Calibri" panose="020F0502020204030204" pitchFamily="34" charset="0"/>
              </a:rPr>
              <a:t>A fictional startup whose app matches university students into study groups. Every service (Gmail, GitHub, Notion, Calendar, Todoist...) is filled with the same story, so a cross-service search for a name like "Maya Chen" or a place like "Westbrook" returns matching results everywhere.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9BCEF8E1-B48A-534C-C61C-FC0F68119D0B}"/>
              </a:ext>
            </a:extLst>
          </p:cNvPr>
          <p:cNvSpPr/>
          <p:nvPr/>
        </p:nvSpPr>
        <p:spPr>
          <a:xfrm>
            <a:off x="6583680" y="4114800"/>
            <a:ext cx="2103120" cy="822960"/>
          </a:xfrm>
          <a:prstGeom prst="roundRect">
            <a:avLst>
              <a:gd name="adj" fmla="val 10000"/>
            </a:avLst>
          </a:prstGeom>
          <a:solidFill>
            <a:srgbClr val="0F766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13CC790-8DBA-5F09-1C1A-02299B1DBCEC}"/>
              </a:ext>
            </a:extLst>
          </p:cNvPr>
          <p:cNvSpPr txBox="1"/>
          <p:nvPr/>
        </p:nvSpPr>
        <p:spPr>
          <a:xfrm>
            <a:off x="6583680" y="4114800"/>
            <a:ext cx="210312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1200" b="1">
                <a:solidFill>
                  <a:srgbClr val="FFFFFF"/>
                </a:solidFill>
                <a:latin typeface="Calibri" panose="020F0502020204030204" pitchFamily="34" charset="0"/>
              </a:rPr>
              <a:t>Deep teal</a:t>
            </a:r>
          </a:p>
          <a:p>
            <a:pPr algn="ctr"/>
            <a:r>
              <a:rPr lang="en-US" sz="1200" b="1">
                <a:solidFill>
                  <a:srgbClr val="FFFFFF"/>
                </a:solidFill>
                <a:latin typeface="Calibri" panose="020F0502020204030204" pitchFamily="34" charset="0"/>
              </a:rPr>
              <a:t>#0F766E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98615A2C-CCB6-82AB-6776-222B9DA2F4F9}"/>
              </a:ext>
            </a:extLst>
          </p:cNvPr>
          <p:cNvSpPr/>
          <p:nvPr/>
        </p:nvSpPr>
        <p:spPr>
          <a:xfrm>
            <a:off x="8961120" y="4114800"/>
            <a:ext cx="2103119" cy="822960"/>
          </a:xfrm>
          <a:prstGeom prst="roundRect">
            <a:avLst>
              <a:gd name="adj" fmla="val 10000"/>
            </a:avLst>
          </a:prstGeom>
          <a:solidFill>
            <a:srgbClr val="F9736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557F7CB-D84E-E55C-8066-E3B8136317C0}"/>
              </a:ext>
            </a:extLst>
          </p:cNvPr>
          <p:cNvSpPr txBox="1"/>
          <p:nvPr/>
        </p:nvSpPr>
        <p:spPr>
          <a:xfrm>
            <a:off x="8961120" y="4114800"/>
            <a:ext cx="210312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1200" b="1">
                <a:solidFill>
                  <a:srgbClr val="FFFFFF"/>
                </a:solidFill>
                <a:latin typeface="Calibri" panose="020F0502020204030204" pitchFamily="34" charset="0"/>
              </a:rPr>
              <a:t>Warm coral</a:t>
            </a:r>
          </a:p>
          <a:p>
            <a:pPr algn="ctr"/>
            <a:r>
              <a:rPr lang="en-US" sz="1200" b="1">
                <a:solidFill>
                  <a:srgbClr val="FFFFFF"/>
                </a:solidFill>
                <a:latin typeface="Calibri" panose="020F0502020204030204" pitchFamily="34" charset="0"/>
              </a:rPr>
              <a:t>#F97362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CF0D75D-EA6F-989F-F0E0-691F3CC7B0F6}"/>
              </a:ext>
            </a:extLst>
          </p:cNvPr>
          <p:cNvSpPr txBox="1"/>
          <p:nvPr/>
        </p:nvSpPr>
        <p:spPr>
          <a:xfrm>
            <a:off x="6583680" y="5074920"/>
            <a:ext cx="4754880" cy="36576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100" i="1">
                <a:solidFill>
                  <a:srgbClr val="CADCFC"/>
                </a:solidFill>
                <a:latin typeface="Calibri" panose="020F0502020204030204" pitchFamily="34" charset="0"/>
              </a:rPr>
              <a:t>Pairly's own brand colors - used here too.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3AFD76D-425B-FD89-A0F1-BE10AFDA2C2C}"/>
              </a:ext>
            </a:extLst>
          </p:cNvPr>
          <p:cNvSpPr txBox="1"/>
          <p:nvPr/>
        </p:nvSpPr>
        <p:spPr>
          <a:xfrm>
            <a:off x="548640" y="6473952"/>
            <a:ext cx="73152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000">
                <a:solidFill>
                  <a:srgbClr val="64748B"/>
                </a:solidFill>
                <a:latin typeface="Calibri" panose="020F0502020204030204" pitchFamily="34" charset="0"/>
              </a:rPr>
              <a:t>Third-Party Services Dashboard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D8059AE-3366-2153-3DC6-7AF4DA6E8877}"/>
              </a:ext>
            </a:extLst>
          </p:cNvPr>
          <p:cNvSpPr txBox="1"/>
          <p:nvPr/>
        </p:nvSpPr>
        <p:spPr>
          <a:xfrm>
            <a:off x="11277295" y="6473952"/>
            <a:ext cx="54864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US" sz="1000">
                <a:solidFill>
                  <a:srgbClr val="64748B"/>
                </a:solidFill>
                <a:latin typeface="Calibri" panose="020F0502020204030204" pitchFamily="34" charset="0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1118144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49A4CDA-EC67-F923-9979-7E9B91A54F27}"/>
              </a:ext>
            </a:extLst>
          </p:cNvPr>
          <p:cNvSpPr txBox="1"/>
          <p:nvPr/>
        </p:nvSpPr>
        <p:spPr>
          <a:xfrm>
            <a:off x="548640" y="411480"/>
            <a:ext cx="11094415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3200" b="1">
                <a:solidFill>
                  <a:srgbClr val="17262B"/>
                </a:solidFill>
                <a:latin typeface="Cambria" panose="02040503050406030204" pitchFamily="18" charset="0"/>
              </a:rPr>
              <a:t>Local Storage Formats and the Download Skill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6B8AB01-12B0-3943-C567-46523DFE64A7}"/>
              </a:ext>
            </a:extLst>
          </p:cNvPr>
          <p:cNvSpPr txBox="1"/>
          <p:nvPr/>
        </p:nvSpPr>
        <p:spPr>
          <a:xfrm>
            <a:off x="548640" y="1371600"/>
            <a:ext cx="3657600" cy="36576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400" b="1">
                <a:solidFill>
                  <a:srgbClr val="F97362"/>
                </a:solidFill>
                <a:latin typeface="Calibri" panose="020F0502020204030204" pitchFamily="34" charset="0"/>
              </a:rPr>
              <a:t>Pending content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C9266F68-26D4-6EDF-5B80-97C7E5A08A86}"/>
              </a:ext>
            </a:extLst>
          </p:cNvPr>
          <p:cNvSpPr/>
          <p:nvPr/>
        </p:nvSpPr>
        <p:spPr>
          <a:xfrm>
            <a:off x="548640" y="1828800"/>
            <a:ext cx="11094415" cy="3566160"/>
          </a:xfrm>
          <a:prstGeom prst="roundRect">
            <a:avLst>
              <a:gd name="adj" fmla="val 8000"/>
            </a:avLst>
          </a:prstGeom>
          <a:solidFill>
            <a:srgbClr val="E7F2F0"/>
          </a:solidFill>
          <a:ln w="19050">
            <a:solidFill>
              <a:srgbClr val="5EA8A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56A27EA-80E2-C92F-8DB5-BC76D8ACC32D}"/>
              </a:ext>
            </a:extLst>
          </p:cNvPr>
          <p:cNvSpPr txBox="1"/>
          <p:nvPr/>
        </p:nvSpPr>
        <p:spPr>
          <a:xfrm>
            <a:off x="914400" y="2103120"/>
            <a:ext cx="10362895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500">
                <a:solidFill>
                  <a:srgbClr val="17262B"/>
                </a:solidFill>
                <a:latin typeface="Calibri" panose="020F0502020204030204" pitchFamily="34" charset="0"/>
              </a:rPr>
              <a:t>[ PLACEHOLDER - fill in once Franco finishes these files ]</a:t>
            </a:r>
          </a:p>
          <a:p>
            <a:r>
              <a:rPr lang="en-US" sz="1500">
                <a:solidFill>
                  <a:srgbClr val="17262B"/>
                </a:solidFill>
                <a:latin typeface="Calibri" panose="020F0502020204030204" pitchFamily="34" charset="0"/>
              </a:rPr>
              <a:t>- Summary of docs/localStorageFormats.md: the folder layout under dataExports/&lt;service&gt;/ and the file format used for each service's downloaded data.</a:t>
            </a:r>
          </a:p>
          <a:p>
            <a:r>
              <a:rPr lang="en-US" sz="1500">
                <a:solidFill>
                  <a:srgbClr val="17262B"/>
                </a:solidFill>
                <a:latin typeface="Calibri" panose="020F0502020204030204" pitchFamily="34" charset="0"/>
              </a:rPr>
              <a:t>- What the download skill in .claude/skills/ does and how it is invoked.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32C3868-A05E-0C1F-4C90-D9168C4667F4}"/>
              </a:ext>
            </a:extLst>
          </p:cNvPr>
          <p:cNvSpPr txBox="1"/>
          <p:nvPr/>
        </p:nvSpPr>
        <p:spPr>
          <a:xfrm>
            <a:off x="548640" y="6473952"/>
            <a:ext cx="73152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000">
                <a:solidFill>
                  <a:srgbClr val="64748B"/>
                </a:solidFill>
                <a:latin typeface="Calibri" panose="020F0502020204030204" pitchFamily="34" charset="0"/>
              </a:rPr>
              <a:t>Third-Party Services Dashboard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E5702CD-86B5-6925-2B0B-2008ECC4EBA6}"/>
              </a:ext>
            </a:extLst>
          </p:cNvPr>
          <p:cNvSpPr txBox="1"/>
          <p:nvPr/>
        </p:nvSpPr>
        <p:spPr>
          <a:xfrm>
            <a:off x="11277295" y="6473952"/>
            <a:ext cx="54864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US" sz="1000">
                <a:solidFill>
                  <a:srgbClr val="64748B"/>
                </a:solidFill>
                <a:latin typeface="Calibri" panose="020F0502020204030204" pitchFamily="34" charset="0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2064237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7ED6BC5-60B6-9C96-E36E-2EC6C1D33735}"/>
              </a:ext>
            </a:extLst>
          </p:cNvPr>
          <p:cNvSpPr txBox="1"/>
          <p:nvPr/>
        </p:nvSpPr>
        <p:spPr>
          <a:xfrm>
            <a:off x="548640" y="411480"/>
            <a:ext cx="11094415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3200" b="1">
                <a:solidFill>
                  <a:srgbClr val="17262B"/>
                </a:solidFill>
                <a:latin typeface="Cambria" panose="02040503050406030204" pitchFamily="18" charset="0"/>
              </a:rPr>
              <a:t>Gmail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34223FD-7861-F275-3FAE-3401FECBC309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8640" y="2092346"/>
            <a:ext cx="5303520" cy="2947629"/>
          </a:xfrm>
          <a:prstGeom prst="rect">
            <a:avLst/>
          </a:prstGeom>
          <a:ln w="12700">
            <a:solidFill>
              <a:srgbClr val="5EA8A1"/>
            </a:solidFill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3EE8896-42F5-B932-9C3E-D53CA5C7B675}"/>
              </a:ext>
            </a:extLst>
          </p:cNvPr>
          <p:cNvSpPr txBox="1"/>
          <p:nvPr/>
        </p:nvSpPr>
        <p:spPr>
          <a:xfrm>
            <a:off x="548640" y="5806440"/>
            <a:ext cx="5303520" cy="36576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sz="1300" b="1">
                <a:solidFill>
                  <a:srgbClr val="0F766E"/>
                </a:solidFill>
                <a:latin typeface="Calibri" panose="020F0502020204030204" pitchFamily="34" charset="0"/>
              </a:rPr>
              <a:t>Original - service website (test profile)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1FF33D5E-49E2-C7FE-F704-B1FA4D553164}"/>
              </a:ext>
            </a:extLst>
          </p:cNvPr>
          <p:cNvSpPr/>
          <p:nvPr/>
        </p:nvSpPr>
        <p:spPr>
          <a:xfrm>
            <a:off x="6309360" y="1463040"/>
            <a:ext cx="5303520" cy="4206240"/>
          </a:xfrm>
          <a:prstGeom prst="roundRect">
            <a:avLst>
              <a:gd name="adj" fmla="val 8000"/>
            </a:avLst>
          </a:prstGeom>
          <a:solidFill>
            <a:srgbClr val="E7F2F0"/>
          </a:solidFill>
          <a:ln w="19050">
            <a:solidFill>
              <a:srgbClr val="5EA8A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99E43A1-D4E8-3A58-79A4-438850439FB5}"/>
              </a:ext>
            </a:extLst>
          </p:cNvPr>
          <p:cNvSpPr txBox="1"/>
          <p:nvPr/>
        </p:nvSpPr>
        <p:spPr>
          <a:xfrm>
            <a:off x="6309360" y="3291840"/>
            <a:ext cx="530352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1400" i="1">
                <a:solidFill>
                  <a:srgbClr val="64748B"/>
                </a:solidFill>
                <a:latin typeface="Calibri" panose="020F0502020204030204" pitchFamily="34" charset="0"/>
              </a:rPr>
              <a:t>[ screenshot placeholder ]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5C2477E-C409-3282-3539-88F54CE8735D}"/>
              </a:ext>
            </a:extLst>
          </p:cNvPr>
          <p:cNvSpPr txBox="1"/>
          <p:nvPr/>
        </p:nvSpPr>
        <p:spPr>
          <a:xfrm>
            <a:off x="6309360" y="5806440"/>
            <a:ext cx="5303520" cy="36576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sz="1300" b="1">
                <a:solidFill>
                  <a:srgbClr val="F97362"/>
                </a:solidFill>
                <a:latin typeface="Calibri" panose="020F0502020204030204" pitchFamily="34" charset="0"/>
              </a:rPr>
              <a:t>Local dashboard (same content)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59B7E6D-E1A6-3855-B1B8-F9B07A46C82E}"/>
              </a:ext>
            </a:extLst>
          </p:cNvPr>
          <p:cNvSpPr txBox="1"/>
          <p:nvPr/>
        </p:nvSpPr>
        <p:spPr>
          <a:xfrm>
            <a:off x="548640" y="6473952"/>
            <a:ext cx="73152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000">
                <a:solidFill>
                  <a:srgbClr val="64748B"/>
                </a:solidFill>
                <a:latin typeface="Calibri" panose="020F0502020204030204" pitchFamily="34" charset="0"/>
              </a:rPr>
              <a:t>Third-Party Services Dashboard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5D8E84F-49A7-894C-D28E-EEF05EF9FAAF}"/>
              </a:ext>
            </a:extLst>
          </p:cNvPr>
          <p:cNvSpPr txBox="1"/>
          <p:nvPr/>
        </p:nvSpPr>
        <p:spPr>
          <a:xfrm>
            <a:off x="11277295" y="6473952"/>
            <a:ext cx="54864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US" sz="1000">
                <a:solidFill>
                  <a:srgbClr val="64748B"/>
                </a:solidFill>
                <a:latin typeface="Calibri" panose="020F0502020204030204" pitchFamily="34" charset="0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31424098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F69516E-D8E0-1080-F9D5-75815B3F0B38}"/>
              </a:ext>
            </a:extLst>
          </p:cNvPr>
          <p:cNvSpPr txBox="1"/>
          <p:nvPr/>
        </p:nvSpPr>
        <p:spPr>
          <a:xfrm>
            <a:off x="548640" y="411480"/>
            <a:ext cx="11094415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3200" b="1">
                <a:solidFill>
                  <a:srgbClr val="17262B"/>
                </a:solidFill>
                <a:latin typeface="Cambria" panose="02040503050406030204" pitchFamily="18" charset="0"/>
              </a:rPr>
              <a:t>GitHub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6D5919C-961E-DE3E-3D83-7F15FB4513C5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8640" y="2188367"/>
            <a:ext cx="5303520" cy="2755585"/>
          </a:xfrm>
          <a:prstGeom prst="rect">
            <a:avLst/>
          </a:prstGeom>
          <a:ln w="12700">
            <a:solidFill>
              <a:srgbClr val="5EA8A1"/>
            </a:solidFill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BAFBA33-63B2-5FA1-A48F-E4D0909CDE1F}"/>
              </a:ext>
            </a:extLst>
          </p:cNvPr>
          <p:cNvSpPr txBox="1"/>
          <p:nvPr/>
        </p:nvSpPr>
        <p:spPr>
          <a:xfrm>
            <a:off x="548640" y="5806440"/>
            <a:ext cx="5303520" cy="36576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sz="1300" b="1">
                <a:solidFill>
                  <a:srgbClr val="0F766E"/>
                </a:solidFill>
                <a:latin typeface="Calibri" panose="020F0502020204030204" pitchFamily="34" charset="0"/>
              </a:rPr>
              <a:t>Original - service website (test profile)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0D20DB21-0787-5553-049A-937043E1ACAB}"/>
              </a:ext>
            </a:extLst>
          </p:cNvPr>
          <p:cNvSpPr/>
          <p:nvPr/>
        </p:nvSpPr>
        <p:spPr>
          <a:xfrm>
            <a:off x="6309360" y="1463040"/>
            <a:ext cx="5303520" cy="4206240"/>
          </a:xfrm>
          <a:prstGeom prst="roundRect">
            <a:avLst>
              <a:gd name="adj" fmla="val 8000"/>
            </a:avLst>
          </a:prstGeom>
          <a:solidFill>
            <a:srgbClr val="E7F2F0"/>
          </a:solidFill>
          <a:ln w="19050">
            <a:solidFill>
              <a:srgbClr val="5EA8A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4C74C2D-B496-47E7-F9B8-47DE2D65258F}"/>
              </a:ext>
            </a:extLst>
          </p:cNvPr>
          <p:cNvSpPr txBox="1"/>
          <p:nvPr/>
        </p:nvSpPr>
        <p:spPr>
          <a:xfrm>
            <a:off x="6309360" y="3291840"/>
            <a:ext cx="530352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1400" i="1">
                <a:solidFill>
                  <a:srgbClr val="64748B"/>
                </a:solidFill>
                <a:latin typeface="Calibri" panose="020F0502020204030204" pitchFamily="34" charset="0"/>
              </a:rPr>
              <a:t>[ screenshot placeholder ]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68234D3-0BD8-BA64-570A-04DD7373D3DA}"/>
              </a:ext>
            </a:extLst>
          </p:cNvPr>
          <p:cNvSpPr txBox="1"/>
          <p:nvPr/>
        </p:nvSpPr>
        <p:spPr>
          <a:xfrm>
            <a:off x="6309360" y="5806440"/>
            <a:ext cx="5303520" cy="36576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sz="1300" b="1">
                <a:solidFill>
                  <a:srgbClr val="F97362"/>
                </a:solidFill>
                <a:latin typeface="Calibri" panose="020F0502020204030204" pitchFamily="34" charset="0"/>
              </a:rPr>
              <a:t>Local dashboard (same content)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F6B34BA-6D2B-8FAF-E261-6FDEBA702FB4}"/>
              </a:ext>
            </a:extLst>
          </p:cNvPr>
          <p:cNvSpPr txBox="1"/>
          <p:nvPr/>
        </p:nvSpPr>
        <p:spPr>
          <a:xfrm>
            <a:off x="548640" y="6473952"/>
            <a:ext cx="73152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000">
                <a:solidFill>
                  <a:srgbClr val="64748B"/>
                </a:solidFill>
                <a:latin typeface="Calibri" panose="020F0502020204030204" pitchFamily="34" charset="0"/>
              </a:rPr>
              <a:t>Third-Party Services Dashboard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60B30EC-C2E4-86E2-3A03-B8EA76E40A5D}"/>
              </a:ext>
            </a:extLst>
          </p:cNvPr>
          <p:cNvSpPr txBox="1"/>
          <p:nvPr/>
        </p:nvSpPr>
        <p:spPr>
          <a:xfrm>
            <a:off x="11277295" y="6473952"/>
            <a:ext cx="54864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US" sz="1000">
                <a:solidFill>
                  <a:srgbClr val="64748B"/>
                </a:solidFill>
                <a:latin typeface="Calibri" panose="020F0502020204030204" pitchFamily="34" charset="0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31009474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1EB38EF-18EC-DE68-94DD-549406424006}"/>
              </a:ext>
            </a:extLst>
          </p:cNvPr>
          <p:cNvSpPr txBox="1"/>
          <p:nvPr/>
        </p:nvSpPr>
        <p:spPr>
          <a:xfrm>
            <a:off x="548640" y="411480"/>
            <a:ext cx="11094415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3200" b="1">
                <a:solidFill>
                  <a:srgbClr val="17262B"/>
                </a:solidFill>
                <a:latin typeface="Cambria" panose="02040503050406030204" pitchFamily="18" charset="0"/>
              </a:rPr>
              <a:t>Notion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07B34C6-7FCD-D917-B924-76793BD7CC33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8640" y="2194897"/>
            <a:ext cx="5303520" cy="2742526"/>
          </a:xfrm>
          <a:prstGeom prst="rect">
            <a:avLst/>
          </a:prstGeom>
          <a:ln w="12700">
            <a:solidFill>
              <a:srgbClr val="5EA8A1"/>
            </a:solidFill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3145D59-DD6A-D71C-81BB-EC3DDA557BBD}"/>
              </a:ext>
            </a:extLst>
          </p:cNvPr>
          <p:cNvSpPr txBox="1"/>
          <p:nvPr/>
        </p:nvSpPr>
        <p:spPr>
          <a:xfrm>
            <a:off x="548640" y="5806440"/>
            <a:ext cx="5303520" cy="36576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sz="1300" b="1">
                <a:solidFill>
                  <a:srgbClr val="0F766E"/>
                </a:solidFill>
                <a:latin typeface="Calibri" panose="020F0502020204030204" pitchFamily="34" charset="0"/>
              </a:rPr>
              <a:t>Original - service website (test profile)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E8019770-4984-A893-D7C2-F8EBFF5D04D5}"/>
              </a:ext>
            </a:extLst>
          </p:cNvPr>
          <p:cNvSpPr/>
          <p:nvPr/>
        </p:nvSpPr>
        <p:spPr>
          <a:xfrm>
            <a:off x="6309360" y="1463040"/>
            <a:ext cx="5303520" cy="4206240"/>
          </a:xfrm>
          <a:prstGeom prst="roundRect">
            <a:avLst>
              <a:gd name="adj" fmla="val 8000"/>
            </a:avLst>
          </a:prstGeom>
          <a:solidFill>
            <a:srgbClr val="E7F2F0"/>
          </a:solidFill>
          <a:ln w="19050">
            <a:solidFill>
              <a:srgbClr val="5EA8A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CA1090E-131D-8473-EA92-4ED8308B1F56}"/>
              </a:ext>
            </a:extLst>
          </p:cNvPr>
          <p:cNvSpPr txBox="1"/>
          <p:nvPr/>
        </p:nvSpPr>
        <p:spPr>
          <a:xfrm>
            <a:off x="6309360" y="3291840"/>
            <a:ext cx="530352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1400" i="1">
                <a:solidFill>
                  <a:srgbClr val="64748B"/>
                </a:solidFill>
                <a:latin typeface="Calibri" panose="020F0502020204030204" pitchFamily="34" charset="0"/>
              </a:rPr>
              <a:t>[ screenshot placeholder ]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6B5AE76-571D-5CF8-F44A-C709D787A0FE}"/>
              </a:ext>
            </a:extLst>
          </p:cNvPr>
          <p:cNvSpPr txBox="1"/>
          <p:nvPr/>
        </p:nvSpPr>
        <p:spPr>
          <a:xfrm>
            <a:off x="6309360" y="5806440"/>
            <a:ext cx="5303520" cy="36576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sz="1300" b="1">
                <a:solidFill>
                  <a:srgbClr val="F97362"/>
                </a:solidFill>
                <a:latin typeface="Calibri" panose="020F0502020204030204" pitchFamily="34" charset="0"/>
              </a:rPr>
              <a:t>Local dashboard (same content)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A1AB3E9-CE4B-B3F7-DA68-3BE540ADEB42}"/>
              </a:ext>
            </a:extLst>
          </p:cNvPr>
          <p:cNvSpPr txBox="1"/>
          <p:nvPr/>
        </p:nvSpPr>
        <p:spPr>
          <a:xfrm>
            <a:off x="548640" y="6473952"/>
            <a:ext cx="73152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000">
                <a:solidFill>
                  <a:srgbClr val="64748B"/>
                </a:solidFill>
                <a:latin typeface="Calibri" panose="020F0502020204030204" pitchFamily="34" charset="0"/>
              </a:rPr>
              <a:t>Third-Party Services Dashboard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AEAF087-934F-FB11-5748-F4783CE08B97}"/>
              </a:ext>
            </a:extLst>
          </p:cNvPr>
          <p:cNvSpPr txBox="1"/>
          <p:nvPr/>
        </p:nvSpPr>
        <p:spPr>
          <a:xfrm>
            <a:off x="11277295" y="6473952"/>
            <a:ext cx="54864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US" sz="1000">
                <a:solidFill>
                  <a:srgbClr val="64748B"/>
                </a:solidFill>
                <a:latin typeface="Calibri" panose="020F0502020204030204" pitchFamily="34" charset="0"/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32693970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31A247C-65A8-8B80-67CF-12261F75B538}"/>
              </a:ext>
            </a:extLst>
          </p:cNvPr>
          <p:cNvSpPr txBox="1"/>
          <p:nvPr/>
        </p:nvSpPr>
        <p:spPr>
          <a:xfrm>
            <a:off x="548640" y="411480"/>
            <a:ext cx="11094415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3200" b="1">
                <a:solidFill>
                  <a:srgbClr val="17262B"/>
                </a:solidFill>
                <a:latin typeface="Cambria" panose="02040503050406030204" pitchFamily="18" charset="0"/>
              </a:rPr>
              <a:t>Google Calendar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82A0B3D-DBF7-D5EB-F72E-5F2DDDE97342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8640" y="2202200"/>
            <a:ext cx="5303520" cy="2727920"/>
          </a:xfrm>
          <a:prstGeom prst="rect">
            <a:avLst/>
          </a:prstGeom>
          <a:ln w="12700">
            <a:solidFill>
              <a:srgbClr val="5EA8A1"/>
            </a:solidFill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860DC6D-E0C6-F696-777A-FE345AA5673C}"/>
              </a:ext>
            </a:extLst>
          </p:cNvPr>
          <p:cNvSpPr txBox="1"/>
          <p:nvPr/>
        </p:nvSpPr>
        <p:spPr>
          <a:xfrm>
            <a:off x="548640" y="5806440"/>
            <a:ext cx="5303520" cy="36576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sz="1300" b="1">
                <a:solidFill>
                  <a:srgbClr val="0F766E"/>
                </a:solidFill>
                <a:latin typeface="Calibri" panose="020F0502020204030204" pitchFamily="34" charset="0"/>
              </a:rPr>
              <a:t>Original - service website (test profile)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250B5152-1089-343E-EE57-187B244C37AF}"/>
              </a:ext>
            </a:extLst>
          </p:cNvPr>
          <p:cNvSpPr/>
          <p:nvPr/>
        </p:nvSpPr>
        <p:spPr>
          <a:xfrm>
            <a:off x="6309360" y="1463040"/>
            <a:ext cx="5303520" cy="4206240"/>
          </a:xfrm>
          <a:prstGeom prst="roundRect">
            <a:avLst>
              <a:gd name="adj" fmla="val 8000"/>
            </a:avLst>
          </a:prstGeom>
          <a:solidFill>
            <a:srgbClr val="E7F2F0"/>
          </a:solidFill>
          <a:ln w="19050">
            <a:solidFill>
              <a:srgbClr val="5EA8A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62BF5FE-82BC-0B8C-3BE0-19A4D7E5E93E}"/>
              </a:ext>
            </a:extLst>
          </p:cNvPr>
          <p:cNvSpPr txBox="1"/>
          <p:nvPr/>
        </p:nvSpPr>
        <p:spPr>
          <a:xfrm>
            <a:off x="6309360" y="3291840"/>
            <a:ext cx="530352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1400" i="1">
                <a:solidFill>
                  <a:srgbClr val="64748B"/>
                </a:solidFill>
                <a:latin typeface="Calibri" panose="020F0502020204030204" pitchFamily="34" charset="0"/>
              </a:rPr>
              <a:t>[ screenshot placeholder ]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8F9E4A5-62E9-7606-A1F1-CBE282D05ACB}"/>
              </a:ext>
            </a:extLst>
          </p:cNvPr>
          <p:cNvSpPr txBox="1"/>
          <p:nvPr/>
        </p:nvSpPr>
        <p:spPr>
          <a:xfrm>
            <a:off x="6309360" y="5806440"/>
            <a:ext cx="5303520" cy="36576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sz="1300" b="1">
                <a:solidFill>
                  <a:srgbClr val="F97362"/>
                </a:solidFill>
                <a:latin typeface="Calibri" panose="020F0502020204030204" pitchFamily="34" charset="0"/>
              </a:rPr>
              <a:t>Local dashboard (same content)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4C62AD2-E71C-E702-CE41-78DB420720CD}"/>
              </a:ext>
            </a:extLst>
          </p:cNvPr>
          <p:cNvSpPr txBox="1"/>
          <p:nvPr/>
        </p:nvSpPr>
        <p:spPr>
          <a:xfrm>
            <a:off x="548640" y="6473952"/>
            <a:ext cx="73152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000">
                <a:solidFill>
                  <a:srgbClr val="64748B"/>
                </a:solidFill>
                <a:latin typeface="Calibri" panose="020F0502020204030204" pitchFamily="34" charset="0"/>
              </a:rPr>
              <a:t>Third-Party Services Dashboard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ED48E37-D753-0F78-71DC-E07A8F3911D5}"/>
              </a:ext>
            </a:extLst>
          </p:cNvPr>
          <p:cNvSpPr txBox="1"/>
          <p:nvPr/>
        </p:nvSpPr>
        <p:spPr>
          <a:xfrm>
            <a:off x="11277295" y="6473952"/>
            <a:ext cx="54864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US" sz="1000">
                <a:solidFill>
                  <a:srgbClr val="64748B"/>
                </a:solidFill>
                <a:latin typeface="Calibri" panose="020F0502020204030204" pitchFamily="34" charset="0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4471368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F3D03E0-CAB0-B740-1BA8-E407723437CB}"/>
              </a:ext>
            </a:extLst>
          </p:cNvPr>
          <p:cNvSpPr txBox="1"/>
          <p:nvPr/>
        </p:nvSpPr>
        <p:spPr>
          <a:xfrm>
            <a:off x="548640" y="411480"/>
            <a:ext cx="11094415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3200" b="1">
                <a:solidFill>
                  <a:srgbClr val="17262B"/>
                </a:solidFill>
                <a:latin typeface="Cambria" panose="02040503050406030204" pitchFamily="18" charset="0"/>
              </a:rPr>
              <a:t>Todoist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518CFE3-BB6C-F451-D1FE-1A3A5C615969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8640" y="2197421"/>
            <a:ext cx="5303520" cy="2737479"/>
          </a:xfrm>
          <a:prstGeom prst="rect">
            <a:avLst/>
          </a:prstGeom>
          <a:ln w="12700">
            <a:solidFill>
              <a:srgbClr val="5EA8A1"/>
            </a:solidFill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B88D15A-EBBB-FAEB-8E81-36C648BA07A6}"/>
              </a:ext>
            </a:extLst>
          </p:cNvPr>
          <p:cNvSpPr txBox="1"/>
          <p:nvPr/>
        </p:nvSpPr>
        <p:spPr>
          <a:xfrm>
            <a:off x="548640" y="5806440"/>
            <a:ext cx="5303520" cy="36576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sz="1300" b="1">
                <a:solidFill>
                  <a:srgbClr val="0F766E"/>
                </a:solidFill>
                <a:latin typeface="Calibri" panose="020F0502020204030204" pitchFamily="34" charset="0"/>
              </a:rPr>
              <a:t>Original - service website (test profile)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642474A-63B4-F7A9-E31C-0948E601D140}"/>
              </a:ext>
            </a:extLst>
          </p:cNvPr>
          <p:cNvSpPr/>
          <p:nvPr/>
        </p:nvSpPr>
        <p:spPr>
          <a:xfrm>
            <a:off x="6309360" y="1463040"/>
            <a:ext cx="5303520" cy="4206240"/>
          </a:xfrm>
          <a:prstGeom prst="roundRect">
            <a:avLst>
              <a:gd name="adj" fmla="val 8000"/>
            </a:avLst>
          </a:prstGeom>
          <a:solidFill>
            <a:srgbClr val="E7F2F0"/>
          </a:solidFill>
          <a:ln w="19050">
            <a:solidFill>
              <a:srgbClr val="5EA8A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8BD9A08-446D-0C1A-04B4-A7C5ABB3507E}"/>
              </a:ext>
            </a:extLst>
          </p:cNvPr>
          <p:cNvSpPr txBox="1"/>
          <p:nvPr/>
        </p:nvSpPr>
        <p:spPr>
          <a:xfrm>
            <a:off x="6309360" y="3291840"/>
            <a:ext cx="530352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1400" i="1">
                <a:solidFill>
                  <a:srgbClr val="64748B"/>
                </a:solidFill>
                <a:latin typeface="Calibri" panose="020F0502020204030204" pitchFamily="34" charset="0"/>
              </a:rPr>
              <a:t>[ screenshot placeholder ]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7109A3F-9F23-BFD3-EB1D-7A39ACD9ED06}"/>
              </a:ext>
            </a:extLst>
          </p:cNvPr>
          <p:cNvSpPr txBox="1"/>
          <p:nvPr/>
        </p:nvSpPr>
        <p:spPr>
          <a:xfrm>
            <a:off x="6309360" y="5806440"/>
            <a:ext cx="5303520" cy="36576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sz="1300" b="1">
                <a:solidFill>
                  <a:srgbClr val="F97362"/>
                </a:solidFill>
                <a:latin typeface="Calibri" panose="020F0502020204030204" pitchFamily="34" charset="0"/>
              </a:rPr>
              <a:t>Local dashboard (same content)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D3890B8-F105-5C75-86AE-489B9DD56FE5}"/>
              </a:ext>
            </a:extLst>
          </p:cNvPr>
          <p:cNvSpPr txBox="1"/>
          <p:nvPr/>
        </p:nvSpPr>
        <p:spPr>
          <a:xfrm>
            <a:off x="548640" y="6473952"/>
            <a:ext cx="73152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000">
                <a:solidFill>
                  <a:srgbClr val="64748B"/>
                </a:solidFill>
                <a:latin typeface="Calibri" panose="020F0502020204030204" pitchFamily="34" charset="0"/>
              </a:rPr>
              <a:t>Third-Party Services Dashboard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5B00426-7AFD-73F2-0F4B-7C03AC9272D6}"/>
              </a:ext>
            </a:extLst>
          </p:cNvPr>
          <p:cNvSpPr txBox="1"/>
          <p:nvPr/>
        </p:nvSpPr>
        <p:spPr>
          <a:xfrm>
            <a:off x="11277295" y="6473952"/>
            <a:ext cx="54864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US" sz="1000">
                <a:solidFill>
                  <a:srgbClr val="64748B"/>
                </a:solidFill>
                <a:latin typeface="Calibri" panose="020F0502020204030204" pitchFamily="34" charset="0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40010732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A293D6C-32F3-ECAC-A3D7-7C15DCA08416}"/>
              </a:ext>
            </a:extLst>
          </p:cNvPr>
          <p:cNvSpPr txBox="1"/>
          <p:nvPr/>
        </p:nvSpPr>
        <p:spPr>
          <a:xfrm>
            <a:off x="548640" y="411480"/>
            <a:ext cx="11094415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3200" b="1">
                <a:solidFill>
                  <a:srgbClr val="17262B"/>
                </a:solidFill>
                <a:latin typeface="Cambria" panose="02040503050406030204" pitchFamily="18" charset="0"/>
              </a:rPr>
              <a:t>Linear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D41CFC27-B8D8-60A9-37AF-438D5897D04E}"/>
              </a:ext>
            </a:extLst>
          </p:cNvPr>
          <p:cNvSpPr/>
          <p:nvPr/>
        </p:nvSpPr>
        <p:spPr>
          <a:xfrm>
            <a:off x="548640" y="1463040"/>
            <a:ext cx="5303520" cy="4206240"/>
          </a:xfrm>
          <a:prstGeom prst="roundRect">
            <a:avLst>
              <a:gd name="adj" fmla="val 8000"/>
            </a:avLst>
          </a:prstGeom>
          <a:solidFill>
            <a:srgbClr val="E7F2F0"/>
          </a:solidFill>
          <a:ln w="19050">
            <a:solidFill>
              <a:srgbClr val="5EA8A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ADDAEB8-C1BC-092A-DB54-F6D05E034C68}"/>
              </a:ext>
            </a:extLst>
          </p:cNvPr>
          <p:cNvSpPr txBox="1"/>
          <p:nvPr/>
        </p:nvSpPr>
        <p:spPr>
          <a:xfrm>
            <a:off x="548640" y="3291840"/>
            <a:ext cx="530352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1400" i="1">
                <a:solidFill>
                  <a:srgbClr val="64748B"/>
                </a:solidFill>
                <a:latin typeface="Calibri" panose="020F0502020204030204" pitchFamily="34" charset="0"/>
              </a:rPr>
              <a:t>[ screenshot placeholder ]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C0B6CDD-7D63-66CD-BCCE-B45903163559}"/>
              </a:ext>
            </a:extLst>
          </p:cNvPr>
          <p:cNvSpPr txBox="1"/>
          <p:nvPr/>
        </p:nvSpPr>
        <p:spPr>
          <a:xfrm>
            <a:off x="548640" y="5806440"/>
            <a:ext cx="5303520" cy="36576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sz="1300" b="1">
                <a:solidFill>
                  <a:srgbClr val="0F766E"/>
                </a:solidFill>
                <a:latin typeface="Calibri" panose="020F0502020204030204" pitchFamily="34" charset="0"/>
              </a:rPr>
              <a:t>Original - service website (test profile)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8ED983A3-493D-DDD9-FBF5-7D48BFAA5782}"/>
              </a:ext>
            </a:extLst>
          </p:cNvPr>
          <p:cNvSpPr/>
          <p:nvPr/>
        </p:nvSpPr>
        <p:spPr>
          <a:xfrm>
            <a:off x="6309360" y="1463040"/>
            <a:ext cx="5303520" cy="4206240"/>
          </a:xfrm>
          <a:prstGeom prst="roundRect">
            <a:avLst>
              <a:gd name="adj" fmla="val 8000"/>
            </a:avLst>
          </a:prstGeom>
          <a:solidFill>
            <a:srgbClr val="E7F2F0"/>
          </a:solidFill>
          <a:ln w="19050">
            <a:solidFill>
              <a:srgbClr val="5EA8A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331AE0B-2165-8C81-D0A6-C42BB337442A}"/>
              </a:ext>
            </a:extLst>
          </p:cNvPr>
          <p:cNvSpPr txBox="1"/>
          <p:nvPr/>
        </p:nvSpPr>
        <p:spPr>
          <a:xfrm>
            <a:off x="6309360" y="3291840"/>
            <a:ext cx="530352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1400" i="1">
                <a:solidFill>
                  <a:srgbClr val="64748B"/>
                </a:solidFill>
                <a:latin typeface="Calibri" panose="020F0502020204030204" pitchFamily="34" charset="0"/>
              </a:rPr>
              <a:t>[ screenshot placeholder ]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BDB4D59-1F87-35BE-3E91-806C05388FE2}"/>
              </a:ext>
            </a:extLst>
          </p:cNvPr>
          <p:cNvSpPr txBox="1"/>
          <p:nvPr/>
        </p:nvSpPr>
        <p:spPr>
          <a:xfrm>
            <a:off x="6309360" y="5806440"/>
            <a:ext cx="5303520" cy="36576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sz="1300" b="1">
                <a:solidFill>
                  <a:srgbClr val="F97362"/>
                </a:solidFill>
                <a:latin typeface="Calibri" panose="020F0502020204030204" pitchFamily="34" charset="0"/>
              </a:rPr>
              <a:t>Local dashboard (same content)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E2C4777-D29A-21DE-E47A-3B54A2C4D232}"/>
              </a:ext>
            </a:extLst>
          </p:cNvPr>
          <p:cNvSpPr txBox="1"/>
          <p:nvPr/>
        </p:nvSpPr>
        <p:spPr>
          <a:xfrm>
            <a:off x="548640" y="6473952"/>
            <a:ext cx="73152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000">
                <a:solidFill>
                  <a:srgbClr val="64748B"/>
                </a:solidFill>
                <a:latin typeface="Calibri" panose="020F0502020204030204" pitchFamily="34" charset="0"/>
              </a:rPr>
              <a:t>Third-Party Services Dashboard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9F36E52-FB8F-F04F-49F5-E30938FEAD54}"/>
              </a:ext>
            </a:extLst>
          </p:cNvPr>
          <p:cNvSpPr txBox="1"/>
          <p:nvPr/>
        </p:nvSpPr>
        <p:spPr>
          <a:xfrm>
            <a:off x="11277295" y="6473952"/>
            <a:ext cx="54864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US" sz="1000">
                <a:solidFill>
                  <a:srgbClr val="64748B"/>
                </a:solidFill>
                <a:latin typeface="Calibri" panose="020F0502020204030204" pitchFamily="34" charset="0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90027860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DCD8CD1-A138-C4FC-F401-CC0E15BF2B8F}"/>
              </a:ext>
            </a:extLst>
          </p:cNvPr>
          <p:cNvSpPr txBox="1"/>
          <p:nvPr/>
        </p:nvSpPr>
        <p:spPr>
          <a:xfrm>
            <a:off x="548640" y="411480"/>
            <a:ext cx="11094415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3200" b="1">
                <a:solidFill>
                  <a:srgbClr val="17262B"/>
                </a:solidFill>
                <a:latin typeface="Cambria" panose="02040503050406030204" pitchFamily="18" charset="0"/>
              </a:rPr>
              <a:t>ClickUp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0EC8143C-F984-EC5F-E247-49DCB4C236F3}"/>
              </a:ext>
            </a:extLst>
          </p:cNvPr>
          <p:cNvSpPr/>
          <p:nvPr/>
        </p:nvSpPr>
        <p:spPr>
          <a:xfrm>
            <a:off x="548640" y="1463040"/>
            <a:ext cx="5303520" cy="4206240"/>
          </a:xfrm>
          <a:prstGeom prst="roundRect">
            <a:avLst>
              <a:gd name="adj" fmla="val 8000"/>
            </a:avLst>
          </a:prstGeom>
          <a:solidFill>
            <a:srgbClr val="E7F2F0"/>
          </a:solidFill>
          <a:ln w="19050">
            <a:solidFill>
              <a:srgbClr val="5EA8A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3AE3A61-2946-1792-4F22-177D8AE47A76}"/>
              </a:ext>
            </a:extLst>
          </p:cNvPr>
          <p:cNvSpPr txBox="1"/>
          <p:nvPr/>
        </p:nvSpPr>
        <p:spPr>
          <a:xfrm>
            <a:off x="548640" y="3291840"/>
            <a:ext cx="530352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1400" i="1">
                <a:solidFill>
                  <a:srgbClr val="64748B"/>
                </a:solidFill>
                <a:latin typeface="Calibri" panose="020F0502020204030204" pitchFamily="34" charset="0"/>
              </a:rPr>
              <a:t>[ screenshot placeholder ]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010A1B9-9938-2F50-432F-3E77913FFB48}"/>
              </a:ext>
            </a:extLst>
          </p:cNvPr>
          <p:cNvSpPr txBox="1"/>
          <p:nvPr/>
        </p:nvSpPr>
        <p:spPr>
          <a:xfrm>
            <a:off x="548640" y="5806440"/>
            <a:ext cx="5303520" cy="36576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sz="1300" b="1">
                <a:solidFill>
                  <a:srgbClr val="0F766E"/>
                </a:solidFill>
                <a:latin typeface="Calibri" panose="020F0502020204030204" pitchFamily="34" charset="0"/>
              </a:rPr>
              <a:t>Original - service website (test profile)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15EFFD11-6AD5-31C4-9EC1-9D44579CBD40}"/>
              </a:ext>
            </a:extLst>
          </p:cNvPr>
          <p:cNvSpPr/>
          <p:nvPr/>
        </p:nvSpPr>
        <p:spPr>
          <a:xfrm>
            <a:off x="6309360" y="1463040"/>
            <a:ext cx="5303520" cy="4206240"/>
          </a:xfrm>
          <a:prstGeom prst="roundRect">
            <a:avLst>
              <a:gd name="adj" fmla="val 8000"/>
            </a:avLst>
          </a:prstGeom>
          <a:solidFill>
            <a:srgbClr val="E7F2F0"/>
          </a:solidFill>
          <a:ln w="19050">
            <a:solidFill>
              <a:srgbClr val="5EA8A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0267A59-C03F-D5BC-5555-9BE35EFA775B}"/>
              </a:ext>
            </a:extLst>
          </p:cNvPr>
          <p:cNvSpPr txBox="1"/>
          <p:nvPr/>
        </p:nvSpPr>
        <p:spPr>
          <a:xfrm>
            <a:off x="6309360" y="3291840"/>
            <a:ext cx="530352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1400" i="1">
                <a:solidFill>
                  <a:srgbClr val="64748B"/>
                </a:solidFill>
                <a:latin typeface="Calibri" panose="020F0502020204030204" pitchFamily="34" charset="0"/>
              </a:rPr>
              <a:t>[ screenshot placeholder ]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63F4902-FFD1-6E19-18E0-2E155F04C3A7}"/>
              </a:ext>
            </a:extLst>
          </p:cNvPr>
          <p:cNvSpPr txBox="1"/>
          <p:nvPr/>
        </p:nvSpPr>
        <p:spPr>
          <a:xfrm>
            <a:off x="6309360" y="5806440"/>
            <a:ext cx="5303520" cy="36576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sz="1300" b="1">
                <a:solidFill>
                  <a:srgbClr val="F97362"/>
                </a:solidFill>
                <a:latin typeface="Calibri" panose="020F0502020204030204" pitchFamily="34" charset="0"/>
              </a:rPr>
              <a:t>Local dashboard (same content)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B10818E-00D6-C957-56E4-E56A8B693079}"/>
              </a:ext>
            </a:extLst>
          </p:cNvPr>
          <p:cNvSpPr txBox="1"/>
          <p:nvPr/>
        </p:nvSpPr>
        <p:spPr>
          <a:xfrm>
            <a:off x="548640" y="6473952"/>
            <a:ext cx="73152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000">
                <a:solidFill>
                  <a:srgbClr val="64748B"/>
                </a:solidFill>
                <a:latin typeface="Calibri" panose="020F0502020204030204" pitchFamily="34" charset="0"/>
              </a:rPr>
              <a:t>Third-Party Services Dashboard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FCF6C2D-1162-734C-D78A-F6B97F632AC3}"/>
              </a:ext>
            </a:extLst>
          </p:cNvPr>
          <p:cNvSpPr txBox="1"/>
          <p:nvPr/>
        </p:nvSpPr>
        <p:spPr>
          <a:xfrm>
            <a:off x="11277295" y="6473952"/>
            <a:ext cx="54864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US" sz="1000">
                <a:solidFill>
                  <a:srgbClr val="64748B"/>
                </a:solidFill>
                <a:latin typeface="Calibri" panose="020F0502020204030204" pitchFamily="34" charset="0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15135528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ED2E09C-8AA7-D874-AF12-8D574118D36B}"/>
              </a:ext>
            </a:extLst>
          </p:cNvPr>
          <p:cNvSpPr txBox="1"/>
          <p:nvPr/>
        </p:nvSpPr>
        <p:spPr>
          <a:xfrm>
            <a:off x="548640" y="411480"/>
            <a:ext cx="11094415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3200" b="1">
                <a:solidFill>
                  <a:srgbClr val="17262B"/>
                </a:solidFill>
                <a:latin typeface="Cambria" panose="02040503050406030204" pitchFamily="18" charset="0"/>
              </a:rPr>
              <a:t>Cross-Service Search in the Dashboard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F71868B9-B2B7-483C-9492-2D70BDFFE328}"/>
              </a:ext>
            </a:extLst>
          </p:cNvPr>
          <p:cNvSpPr/>
          <p:nvPr/>
        </p:nvSpPr>
        <p:spPr>
          <a:xfrm>
            <a:off x="1645920" y="1554480"/>
            <a:ext cx="8897112" cy="4480560"/>
          </a:xfrm>
          <a:prstGeom prst="roundRect">
            <a:avLst>
              <a:gd name="adj" fmla="val 8000"/>
            </a:avLst>
          </a:prstGeom>
          <a:solidFill>
            <a:srgbClr val="E7F2F0"/>
          </a:solidFill>
          <a:ln w="19050">
            <a:solidFill>
              <a:srgbClr val="5EA8A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E22208B-F382-EFC0-C222-448CF15BC3E0}"/>
              </a:ext>
            </a:extLst>
          </p:cNvPr>
          <p:cNvSpPr txBox="1"/>
          <p:nvPr/>
        </p:nvSpPr>
        <p:spPr>
          <a:xfrm>
            <a:off x="1645920" y="3566160"/>
            <a:ext cx="8897112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1600" i="1">
                <a:solidFill>
                  <a:srgbClr val="64748B"/>
                </a:solidFill>
                <a:latin typeface="Calibri" panose="020F0502020204030204" pitchFamily="34" charset="0"/>
              </a:rPr>
              <a:t>[ screenshot placeholder: dashboard cross-service search ]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5B85BFF-0C52-FFD5-9840-4A6103AC920D}"/>
              </a:ext>
            </a:extLst>
          </p:cNvPr>
          <p:cNvSpPr txBox="1"/>
          <p:nvPr/>
        </p:nvSpPr>
        <p:spPr>
          <a:xfrm>
            <a:off x="548640" y="6473952"/>
            <a:ext cx="73152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000">
                <a:solidFill>
                  <a:srgbClr val="64748B"/>
                </a:solidFill>
                <a:latin typeface="Calibri" panose="020F0502020204030204" pitchFamily="34" charset="0"/>
              </a:rPr>
              <a:t>Third-Party Services Dashboard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8C7A2D1-275B-AACC-247A-95363F4FEC4F}"/>
              </a:ext>
            </a:extLst>
          </p:cNvPr>
          <p:cNvSpPr txBox="1"/>
          <p:nvPr/>
        </p:nvSpPr>
        <p:spPr>
          <a:xfrm>
            <a:off x="11277295" y="6473952"/>
            <a:ext cx="54864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US" sz="1000">
                <a:solidFill>
                  <a:srgbClr val="64748B"/>
                </a:solidFill>
                <a:latin typeface="Calibri" panose="020F0502020204030204" pitchFamily="34" charset="0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65578712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B839480-9FFD-655E-A580-FA1BD738AA63}"/>
              </a:ext>
            </a:extLst>
          </p:cNvPr>
          <p:cNvSpPr txBox="1"/>
          <p:nvPr/>
        </p:nvSpPr>
        <p:spPr>
          <a:xfrm>
            <a:off x="548640" y="411480"/>
            <a:ext cx="11094415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3200" b="1">
                <a:solidFill>
                  <a:srgbClr val="17262B"/>
                </a:solidFill>
                <a:latin typeface="Cambria" panose="02040503050406030204" pitchFamily="18" charset="0"/>
              </a:rPr>
              <a:t>Security: Keeping Secrets Out of a Public Repo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E79ECF3E-4472-9E9D-B74E-64CDAB55C3F8}"/>
              </a:ext>
            </a:extLst>
          </p:cNvPr>
          <p:cNvSpPr/>
          <p:nvPr/>
        </p:nvSpPr>
        <p:spPr>
          <a:xfrm>
            <a:off x="1478242" y="1737360"/>
            <a:ext cx="640080" cy="640080"/>
          </a:xfrm>
          <a:prstGeom prst="ellipse">
            <a:avLst/>
          </a:prstGeom>
          <a:solidFill>
            <a:srgbClr val="0F766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C57674D-33A2-C1D4-A77E-362F1DEAC3D7}"/>
              </a:ext>
            </a:extLst>
          </p:cNvPr>
          <p:cNvSpPr txBox="1"/>
          <p:nvPr/>
        </p:nvSpPr>
        <p:spPr>
          <a:xfrm>
            <a:off x="1478242" y="1737360"/>
            <a:ext cx="64008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b="1">
                <a:solidFill>
                  <a:srgbClr val="FFFFFF"/>
                </a:solidFill>
                <a:latin typeface="Calibri" panose="020F0502020204030204" pitchFamily="34" charset="0"/>
              </a:rPr>
              <a:t>1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ADD75E8-B6D8-C0D4-1035-A6AE2E12B1E4}"/>
              </a:ext>
            </a:extLst>
          </p:cNvPr>
          <p:cNvSpPr txBox="1"/>
          <p:nvPr/>
        </p:nvSpPr>
        <p:spPr>
          <a:xfrm>
            <a:off x="548640" y="2606040"/>
            <a:ext cx="2499284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sz="1500" b="1">
                <a:solidFill>
                  <a:srgbClr val="17262B"/>
                </a:solidFill>
                <a:latin typeface="Calibri" panose="020F0502020204030204" pitchFamily="34" charset="0"/>
              </a:rPr>
              <a:t>Test accounts only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8CF09C8-22F5-72EB-986A-6C380FED0FBB}"/>
              </a:ext>
            </a:extLst>
          </p:cNvPr>
          <p:cNvSpPr txBox="1"/>
          <p:nvPr/>
        </p:nvSpPr>
        <p:spPr>
          <a:xfrm>
            <a:off x="640080" y="3154680"/>
            <a:ext cx="2316404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250">
                <a:solidFill>
                  <a:srgbClr val="17262B"/>
                </a:solidFill>
                <a:latin typeface="Calibri" panose="020F0502020204030204" pitchFamily="34" charset="0"/>
              </a:rPr>
              <a:t>Every login (Google, GitHub, Todoist...) uses a throwaway test account, never a personal one.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BEF81BB2-5B16-1EA4-2BE2-7B5ABB0591FA}"/>
              </a:ext>
            </a:extLst>
          </p:cNvPr>
          <p:cNvSpPr/>
          <p:nvPr/>
        </p:nvSpPr>
        <p:spPr>
          <a:xfrm>
            <a:off x="4343286" y="1737360"/>
            <a:ext cx="640080" cy="640080"/>
          </a:xfrm>
          <a:prstGeom prst="ellipse">
            <a:avLst/>
          </a:prstGeom>
          <a:solidFill>
            <a:srgbClr val="F9736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AC2A4BB-9CBB-FA73-24EF-4B84C3EA4BC5}"/>
              </a:ext>
            </a:extLst>
          </p:cNvPr>
          <p:cNvSpPr txBox="1"/>
          <p:nvPr/>
        </p:nvSpPr>
        <p:spPr>
          <a:xfrm>
            <a:off x="4343286" y="1737360"/>
            <a:ext cx="64008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b="1">
                <a:solidFill>
                  <a:srgbClr val="FFFFFF"/>
                </a:solidFill>
                <a:latin typeface="Calibri" panose="020F0502020204030204" pitchFamily="34" charset="0"/>
              </a:rPr>
              <a:t>2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293C383-FA09-B9E2-6725-91F4A4CB8089}"/>
              </a:ext>
            </a:extLst>
          </p:cNvPr>
          <p:cNvSpPr txBox="1"/>
          <p:nvPr/>
        </p:nvSpPr>
        <p:spPr>
          <a:xfrm>
            <a:off x="3413684" y="2606040"/>
            <a:ext cx="2499284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sz="1500" b="1">
                <a:solidFill>
                  <a:srgbClr val="17262B"/>
                </a:solidFill>
                <a:latin typeface="Calibri" panose="020F0502020204030204" pitchFamily="34" charset="0"/>
              </a:rPr>
              <a:t>No secrets in files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685B886-F66E-2171-BAE3-82F82B48C832}"/>
              </a:ext>
            </a:extLst>
          </p:cNvPr>
          <p:cNvSpPr txBox="1"/>
          <p:nvPr/>
        </p:nvSpPr>
        <p:spPr>
          <a:xfrm>
            <a:off x="3505124" y="3154680"/>
            <a:ext cx="2316404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250">
                <a:solidFill>
                  <a:srgbClr val="17262B"/>
                </a:solidFill>
                <a:latin typeface="Calibri" panose="020F0502020204030204" pitchFamily="34" charset="0"/>
              </a:rPr>
              <a:t>Passwords, API keys, tokens, and OAuth secrets are never written into any file or chat.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39A598A4-85E5-129C-5513-322E2585D59D}"/>
              </a:ext>
            </a:extLst>
          </p:cNvPr>
          <p:cNvSpPr/>
          <p:nvPr/>
        </p:nvSpPr>
        <p:spPr>
          <a:xfrm>
            <a:off x="7208330" y="1737360"/>
            <a:ext cx="640080" cy="640080"/>
          </a:xfrm>
          <a:prstGeom prst="ellipse">
            <a:avLst/>
          </a:prstGeom>
          <a:solidFill>
            <a:srgbClr val="0F766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63C078E-FF7A-2D7E-F90C-422DD6521153}"/>
              </a:ext>
            </a:extLst>
          </p:cNvPr>
          <p:cNvSpPr txBox="1"/>
          <p:nvPr/>
        </p:nvSpPr>
        <p:spPr>
          <a:xfrm>
            <a:off x="7208330" y="1737360"/>
            <a:ext cx="64008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b="1">
                <a:solidFill>
                  <a:srgbClr val="FFFFFF"/>
                </a:solidFill>
                <a:latin typeface="Calibri" panose="020F0502020204030204" pitchFamily="34" charset="0"/>
              </a:rPr>
              <a:t>3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E085D0F-8EE8-DE76-5CAD-419F5F910195}"/>
              </a:ext>
            </a:extLst>
          </p:cNvPr>
          <p:cNvSpPr txBox="1"/>
          <p:nvPr/>
        </p:nvSpPr>
        <p:spPr>
          <a:xfrm>
            <a:off x="6278728" y="2606040"/>
            <a:ext cx="2499284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sz="1500" b="1">
                <a:solidFill>
                  <a:srgbClr val="17262B"/>
                </a:solidFill>
                <a:latin typeface="Calibri" panose="020F0502020204030204" pitchFamily="34" charset="0"/>
              </a:rPr>
              <a:t>Env vars and OAuth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22B80D7-EE1C-2607-6EA8-CBDDF142C6B6}"/>
              </a:ext>
            </a:extLst>
          </p:cNvPr>
          <p:cNvSpPr txBox="1"/>
          <p:nvPr/>
        </p:nvSpPr>
        <p:spPr>
          <a:xfrm>
            <a:off x="6370168" y="3154680"/>
            <a:ext cx="2316404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250">
                <a:solidFill>
                  <a:srgbClr val="17262B"/>
                </a:solidFill>
                <a:latin typeface="Calibri" panose="020F0502020204030204" pitchFamily="34" charset="0"/>
              </a:rPr>
              <a:t>GITHUB_PAT lives in a local environment variable; other servers use OAuth held by Claude Code.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F257B91F-4E19-6706-75F6-2F0FE53CD6D4}"/>
              </a:ext>
            </a:extLst>
          </p:cNvPr>
          <p:cNvSpPr/>
          <p:nvPr/>
        </p:nvSpPr>
        <p:spPr>
          <a:xfrm>
            <a:off x="10073374" y="1737360"/>
            <a:ext cx="640080" cy="640080"/>
          </a:xfrm>
          <a:prstGeom prst="ellipse">
            <a:avLst/>
          </a:prstGeom>
          <a:solidFill>
            <a:srgbClr val="F9736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9BD6E1B-A53C-E918-E079-D3693B4CE33E}"/>
              </a:ext>
            </a:extLst>
          </p:cNvPr>
          <p:cNvSpPr txBox="1"/>
          <p:nvPr/>
        </p:nvSpPr>
        <p:spPr>
          <a:xfrm>
            <a:off x="10073374" y="1737360"/>
            <a:ext cx="64008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b="1">
                <a:solidFill>
                  <a:srgbClr val="FFFFFF"/>
                </a:solidFill>
                <a:latin typeface="Calibri" panose="020F0502020204030204" pitchFamily="34" charset="0"/>
              </a:rPr>
              <a:t>4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6395BEC-0F30-271B-FEDD-C87F4D21E0C7}"/>
              </a:ext>
            </a:extLst>
          </p:cNvPr>
          <p:cNvSpPr txBox="1"/>
          <p:nvPr/>
        </p:nvSpPr>
        <p:spPr>
          <a:xfrm>
            <a:off x="9143771" y="2606040"/>
            <a:ext cx="2499284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sz="1500" b="1">
                <a:solidFill>
                  <a:srgbClr val="17262B"/>
                </a:solidFill>
                <a:latin typeface="Calibri" panose="020F0502020204030204" pitchFamily="34" charset="0"/>
              </a:rPr>
              <a:t>.mcp.json has no secrets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1F38187-FC70-4CCB-EA8F-802D0A262C89}"/>
              </a:ext>
            </a:extLst>
          </p:cNvPr>
          <p:cNvSpPr txBox="1"/>
          <p:nvPr/>
        </p:nvSpPr>
        <p:spPr>
          <a:xfrm>
            <a:off x="9235211" y="3154680"/>
            <a:ext cx="2316404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250">
                <a:solidFill>
                  <a:srgbClr val="17262B"/>
                </a:solidFill>
                <a:latin typeface="Calibri" panose="020F0502020204030204" pitchFamily="34" charset="0"/>
              </a:rPr>
              <a:t>It only references ${GITHUB_PAT}; real values stay on each machine, outside git.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8BE415A-4CA6-7CFB-B3F6-D276C541D6AE}"/>
              </a:ext>
            </a:extLst>
          </p:cNvPr>
          <p:cNvSpPr txBox="1"/>
          <p:nvPr/>
        </p:nvSpPr>
        <p:spPr>
          <a:xfrm>
            <a:off x="548640" y="6473952"/>
            <a:ext cx="73152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000">
                <a:solidFill>
                  <a:srgbClr val="64748B"/>
                </a:solidFill>
                <a:latin typeface="Calibri" panose="020F0502020204030204" pitchFamily="34" charset="0"/>
              </a:rPr>
              <a:t>Third-Party Services Dashboard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2058FCE-48CC-8AD4-17C4-EB77B36D82C5}"/>
              </a:ext>
            </a:extLst>
          </p:cNvPr>
          <p:cNvSpPr txBox="1"/>
          <p:nvPr/>
        </p:nvSpPr>
        <p:spPr>
          <a:xfrm>
            <a:off x="11277295" y="6473952"/>
            <a:ext cx="54864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US" sz="1000">
                <a:solidFill>
                  <a:srgbClr val="64748B"/>
                </a:solidFill>
                <a:latin typeface="Calibri" panose="020F0502020204030204" pitchFamily="34" charset="0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27518239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758</Words>
  <Application>Microsoft Office PowerPoint</Application>
  <PresentationFormat>Custom</PresentationFormat>
  <Paragraphs>148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Aptos</vt:lpstr>
      <vt:lpstr>Aptos Display</vt:lpstr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Ivan Zirlinger</dc:creator>
  <cp:lastModifiedBy>Ivan Zirlinger</cp:lastModifiedBy>
  <cp:revision>1</cp:revision>
  <dcterms:created xsi:type="dcterms:W3CDTF">2026-10-15T21:21:02Z</dcterms:created>
  <dcterms:modified xsi:type="dcterms:W3CDTF">2026-10-15T21:21:02Z</dcterms:modified>
</cp:coreProperties>
</file>